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note: many people in the room have a grade 6–8 education. Keep to the slide words, use the interpreter, and give time for questions after each decision slide. This deck describes rules and what other communities have done. It is not legal advice. Before presenting, check the dossier's verification list (docs/data_sovereignty.md §6). Slides with an unchecked item say so in these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part of the "data": where and when we sampled, what people share at the workshop, photos and recordings, and papers and posters. A free-living bacterium's genome from seawater contains no human genetic information. The sensitive parts are where it came from, any money it could make, and who tells the story of its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Indigenous data sovereignty grew from Indigenous networks worldwide from about 2015 (Kukutai &amp; Taylor 2016, ANU Press). Other frameworks you may be asked about: CARE (Global Indigenous Data Alliance, worldwide) and OCAP® (a First Nations framework, not an Inuit one). The Inuit documents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ITK National Inuit Strategy on Research, Priority Area 4 [V]. ITK's own page describes it as data about "our people, wildlife, and environment" [S: confirm on itk.ca]. ICC Circumpolar Inuit Protocols for Equitable and Ethical Engagement, Protocol 7, pp. 26–28 [V]. The Nunavut Research Institute asks every licence applicant to read the ITK strategy. ITK's National Inuit Data Strategy and NTI's Nunavut Data Strategy are still being written (as of Feb 2026). Check for news before the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ICC Protocol 1, p. 17 [V]: consent includes "the ability to say 'yes', 'yes with conditions', and 'no'"; "silence does not mean agreement or yes". Individual choices on the consent form: take part; photos; audio/video; named as a name's proposer; quoted. Check these match the REB-approved form; additions need an REB amendment. Youth need a parent's or guardian's consent. People can change their mind about a name until it is published. After that it can't be withdrawn, though taxonomists may later move the microbe and rename it as group boundaries are redrawn; the original name stays in the record as a synonym.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Spellings, syllabics and meanings are the Igluligaarjuk workshop's own (communities/igluligaarjuk/iq.js). Do not swap in the GN list. Let Elders and facilitators say how each principle applies. The dossier's IQ-to-CARE pairings are our own synthesis, not a published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Nagoya: ECCC says it "is not legally binding on Canada" [V; page dated Sept 2022, no later accession found]. Canada has no national access and benefit-sharing law [V]. UNDRIP Art. 31 names "genetic resources" as part of Indigenous heritage, but binds governments, not researchers [U wording]. TCPS 2 Chapter 9: Art. 9.13 (research should benefit the community) and 9.18 (intellectual property set out in a research agreement) [V]. Tri-Agency data policy: data plans for Inuit research "must be co-developed" with communities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NRI licence guide (May 2025) [V]: no sharing of samples "outside the scope of your original licensed project"; an amendment is needed "for any secondary research or analysis of archived samples". To confirm before the workshop (item 16): that the licence and REB approval cover publishing the names, their meanings and any knowledge recorded with them. Item 17: whether every annual report must be translated. Add the licence number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SeqCode Rule 18a: the type sequence "must be available in the International Nucleotide Sequence Database Collaboration (INSDC)"; Rule 26 makes valid publication depend on it [V, SeqCode v1.2.0]. INSDC: "free and unrestricted access with no use restrictions", permanent [V]. Open question (item 22): whether the Registry also requires the raw reads. Sources conflict, so don't promise anything about raw reads until it's checked on registry.seqco.de.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Dossier §5 "release gate". A "no" means that microbe can't get an official SeqCode name; it can still have a community name. The water samples and DNA are the community's strongest control, because the naming rules only need the genome, not the samples. Model: the Kākāpō125+ genome terms (NZ Department of Conservation and Te Rūnanga o Ngāi Tahu) allow deposit only "as journals require" and ban passing anything else on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Nunavik: Ayotte et al. 2024 (PMC10830945), describing Qanuilirpitaa? 2017 governance [V]. Greenland Act No. 3 of 3 June 2016 (FAOLEX grl201579) [V, Danish original; the English here is a translation]. Aotearoa Genomic Data Repository: guardians (kaitiaki) approve access [V]; Kukutai &amp; Black 2024, Science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Contexts Biocultural (BC) Labels are applied only by communities; researchers can add a BC Notice until then [S]. Labels are fetched live through the Hub API, so changes show up everywhere [V]. There's no dedicated NCBI/ENA field yet: put the Hub link in the BioProject description, a custom BioSample attribute, the paper's data statement and the protologue. Nunavut example: the MAGIC muskox genomics project, co-led by Nunavut HTOs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Vigneron, Vincent &amp; Lovejoy 2023, ISME Communications 3:82, doi:10.1038/s43705-023-00287-9. The acknowledgements thank Larry Audlaluk "for discussions in Grise Fiord about this work and the naming in Inuktitut" [V]. Check the protologue's gloss of "tariuq" before saying it aloud (item 25). SeqCode Rec. 9(3) prefers Latin roots, but recommendations aren't rules; each protologue should give the cultural reason for using Inuktitut roots. "Not done before" = no earlier community-chosen Inuktitut prokaryote names found in this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 Fund, CBD Decision 16/2 [V]; about US$6,000 to US$8,990 deposited by late Oct 2026 [S]. COP17 (Yerevan) closes 30 Oct 2026: update if anything changes. GN honoraria benchmark (FAM 810-1, from 1 Jan 2023): $650 a full day, $325 a half day for Elders and IQ knowledge holders [V]. Check for a 2026 update (item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Ortenzi et al., Ambio (PMC11662125) [V]. Licence reviewers in Nunavut asked for "more direct engagement with researchers and better access to research outcomes" (Beltrano et al. 2025, Arctic)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written agreement is with the Aqigiq HTO; the data group works under it. The HTO decides who else joins. The research team should not name members. Possible members from the dossier: an Elder, a youth representative, the Hamlet, the Sapujiyiit Society, and the DEA where youth are involved. The Hamlet, HTO and DEA already review every Nunavut research licence (NRI guide)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release gate (slide 10). Only genomes that carry a name need to go public. All other genomes stay under the agreement unless the data group decides otherwise. Data can be held privately until the paper or Registry entry is ready (NCBI hold-until-publication). Check the maximum hold period (item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DNA library requires country and collection date; exact coordinates are optional [V]. If any site is sensitive (a harvesting spot, a cabin lake), drop it, as docs/ethics-and-data.md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wording for each name's record: "proposed by participants of the Igluligaarjuk community naming workshop, 2026", plus individual names only with opt-in consent. Community members listed as authors of the publication become part of the name's permanent citation; offer this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agreement: the community owns the samples; the university is the steward; no new use without the data group and an NRI licence amendment; destroy on request, with a letter confirming it. Models: Memorial University / Nunatsiavut agreement ("samples" included in Indigenous Data) [V]; Alberta FNIGC data-sharing framework (letter confirming destruction or return)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a plain-language report in Inuktitut and English, plus posters. Online: the workshop website (already live), with a full data copy on a drive held by the HTO, or on an Inuit-built platform such as SIKU, whose terms say users own their content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tested clauses in the dossier's catalogue (§4): Memorial University / Nunatsiavut agreement, NWT traditional knowledge template ("only a license … it does not convey title"), Kākāpō125+ genome terms, and NSERC's new Indigenous Engagement and Collaboration Agreement Template. Two drafting rules: (1) the community must give a clear answer before anything is published; never "no reply means yes". (2) "Return or destroy on request" can't cover genomes already posted publicly, so say so plainly in the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dossier, with every source and the list of things still to check, is docs/data_sovereignty.md. Have the ITK, ICC and NRI documents printed on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2A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280160"/>
          </a:xfrm>
          <a:prstGeom prst="rect">
            <a:avLst/>
          </a:prstGeom>
          <a:noFill/>
          <a:ln/>
        </p:spPr>
        <p:txBody>
          <a:bodyPr wrap="square" rtlCol="0"/>
          <a:lstStyle>
            <a:lvl1pPr algn="l" indent="0" marL="0">
              <a:buNone/>
              <a:defRPr lang="en-US" sz="4400" b="1" dirty="0">
                <a:solidFill>
                  <a:srgbClr val="FFFFFF"/>
                </a:solidFill>
                <a:latin typeface="Arial" pitchFamily="34" charset="0"/>
                <a:ea typeface="Arial" pitchFamily="34" charset="-122"/>
                <a:cs typeface="Arial"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1097280"/>
          </a:xfrm>
          <a:prstGeom prst="rect">
            <a:avLst/>
          </a:prstGeom>
          <a:noFill/>
          <a:ln/>
        </p:spPr>
        <p:txBody>
          <a:bodyPr wrap="square" rtlCol="0"/>
          <a:lstStyle>
            <a:lvl1pPr algn="l" indent="0" marL="0">
              <a:buNone/>
              <a:defRPr lang="en-US" sz="3200" b="1" dirty="0">
                <a:solidFill>
                  <a:srgbClr val="0F172A"/>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Our waters, our say · Igluligaarjuk</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1094415" cy="411480"/>
          </a:xfrm>
          <a:prstGeom prst="rect">
            <a:avLst/>
          </a:prstGeom>
          <a:noFill/>
          <a:ln/>
        </p:spPr>
        <p:txBody>
          <a:bodyPr wrap="square" lIns="0" tIns="0" rIns="0" bIns="0" rtlCol="0" anchor="t"/>
          <a:lstStyle/>
          <a:p>
            <a:pPr indent="0" marL="0">
              <a:buNone/>
            </a:pPr>
            <a:r>
              <a:rPr lang="en-US" sz="1600" b="1" spc="100" kern="0" dirty="0">
                <a:solidFill>
                  <a:srgbClr val="F59E0B"/>
                </a:solidFill>
                <a:latin typeface="Arial" pitchFamily="34" charset="0"/>
                <a:ea typeface="Arial" pitchFamily="34" charset="-122"/>
                <a:cs typeface="Arial" pitchFamily="34" charset="-120"/>
              </a:rPr>
              <a:t>Igluligaarjuk · </a:t>
            </a:r>
            <a:pPr indent="0" marL="0">
              <a:buNone/>
            </a:pPr>
            <a:r>
              <a:rPr lang="en-US" sz="1600" b="1" spc="100" kern="0" dirty="0">
                <a:solidFill>
                  <a:srgbClr val="F59E0B"/>
                </a:solidFill>
                <a:latin typeface="Euphemia" pitchFamily="34" charset="0"/>
                <a:ea typeface="Euphemia" pitchFamily="34" charset="-122"/>
                <a:cs typeface="Euphemia" pitchFamily="34" charset="-120"/>
              </a:rPr>
              <a:t>ᐃᒡᓗᓕᒑᕐᔪᒃ</a:t>
            </a:r>
            <a:pPr indent="0" marL="0">
              <a:buNone/>
            </a:pPr>
            <a:r>
              <a:rPr lang="en-US" sz="1600" b="1" spc="100" kern="0" dirty="0">
                <a:solidFill>
                  <a:srgbClr val="F59E0B"/>
                </a:solidFill>
                <a:latin typeface="Arial" pitchFamily="34" charset="0"/>
                <a:ea typeface="Arial" pitchFamily="34" charset="-122"/>
                <a:cs typeface="Arial" pitchFamily="34" charset="-120"/>
              </a:rPr>
              <a:t> · Naming workshop</a:t>
            </a:r>
            <a:endParaRPr lang="en-US" sz="1600" dirty="0"/>
          </a:p>
        </p:txBody>
      </p:sp>
      <p:sp>
        <p:nvSpPr>
          <p:cNvPr id="3" name="Text 0"/>
          <p:cNvSpPr/>
          <p:nvPr>
            <p:ph idx="100" type="title" hasCustomPrompt="1"/>
          </p:nvPr>
        </p:nvSpPr>
        <p:spPr>
          <a:xfrm>
            <a:off x="548640" y="2011680"/>
            <a:ext cx="11094415" cy="1280160"/>
          </a:xfrm>
          <a:prstGeom prst="rect">
            <a:avLst/>
          </a:prstGeom>
          <a:noFill/>
          <a:ln/>
        </p:spPr>
        <p:txBody>
          <a:bodyPr wrap="square" lIns="0" tIns="0" rIns="0" bIns="0" rtlCol="0" anchor="t"/>
          <a:lstStyle/>
          <a:p>
            <a:pPr algn="l" indent="0" marL="0">
              <a:buNone/>
            </a:pPr>
            <a:r>
              <a:rPr lang="en-US" sz="4400" b="1" dirty="0">
                <a:solidFill>
                  <a:srgbClr val="FFFFFF"/>
                </a:solidFill>
                <a:latin typeface="Arial" pitchFamily="34" charset="0"/>
                <a:ea typeface="Arial" pitchFamily="34" charset="-122"/>
                <a:cs typeface="Arial" pitchFamily="34" charset="-120"/>
              </a:rPr>
              <a:t>Our waters, our say</a:t>
            </a:r>
            <a:endParaRPr lang="en-US" sz="4400" dirty="0"/>
          </a:p>
        </p:txBody>
      </p:sp>
      <p:sp>
        <p:nvSpPr>
          <p:cNvPr id="4" name="Text 2"/>
          <p:cNvSpPr txBox="1"/>
          <p:nvPr/>
        </p:nvSpPr>
        <p:spPr>
          <a:xfrm>
            <a:off x="548640" y="3108960"/>
            <a:ext cx="10180015" cy="670560"/>
          </a:xfrm>
          <a:prstGeom prst="rect">
            <a:avLst/>
          </a:prstGeom>
          <a:noFill/>
          <a:ln/>
        </p:spPr>
        <p:txBody>
          <a:bodyPr wrap="square" lIns="0" tIns="0" rIns="0" bIns="0" rtlCol="0" anchor="t"/>
          <a:lstStyle/>
          <a:p>
            <a:pPr indent="0" marL="0">
              <a:buNone/>
            </a:pPr>
            <a:r>
              <a:rPr lang="en-US" sz="2200" dirty="0">
                <a:solidFill>
                  <a:srgbClr val="DCE7F0"/>
                </a:solidFill>
                <a:latin typeface="Arial" pitchFamily="34" charset="0"/>
                <a:ea typeface="Arial" pitchFamily="34" charset="-122"/>
                <a:cs typeface="Arial" pitchFamily="34" charset="-120"/>
              </a:rPr>
              <a:t>We took water from the inlet and the lakes, read the DNA of the microbes in it, and are now giving some of them names.</a:t>
            </a:r>
            <a:endParaRPr lang="en-US" sz="2200" dirty="0"/>
          </a:p>
        </p:txBody>
      </p:sp>
      <p:sp>
        <p:nvSpPr>
          <p:cNvPr id="5" name="Text 3"/>
          <p:cNvSpPr txBox="1"/>
          <p:nvPr/>
        </p:nvSpPr>
        <p:spPr>
          <a:xfrm>
            <a:off x="548640" y="4008120"/>
            <a:ext cx="10180015" cy="670560"/>
          </a:xfrm>
          <a:prstGeom prst="rect">
            <a:avLst/>
          </a:prstGeom>
          <a:noFill/>
          <a:ln/>
        </p:spPr>
        <p:txBody>
          <a:bodyPr wrap="square" lIns="0" tIns="0" rIns="0" bIns="0" rtlCol="0" anchor="t"/>
          <a:lstStyle/>
          <a:p>
            <a:pPr indent="0" marL="0">
              <a:buNone/>
            </a:pPr>
            <a:r>
              <a:rPr lang="en-US" sz="2200" dirty="0">
                <a:solidFill>
                  <a:srgbClr val="DCE7F0"/>
                </a:solidFill>
                <a:latin typeface="Arial" pitchFamily="34" charset="0"/>
                <a:ea typeface="Arial" pitchFamily="34" charset="-122"/>
                <a:cs typeface="Arial" pitchFamily="34" charset="-120"/>
              </a:rPr>
              <a:t>Before we share anything, we want to agree together on who decides what. This is called data sovereignty.</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WHAT WE HAVE</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From a bottle of water to a name</a:t>
            </a:r>
            <a:endParaRPr lang="en-US" sz="3200" dirty="0"/>
          </a:p>
        </p:txBody>
      </p:sp>
      <p:sp>
        <p:nvSpPr>
          <p:cNvPr id="4" name="step Water"/>
          <p:cNvSpPr/>
          <p:nvPr/>
        </p:nvSpPr>
        <p:spPr>
          <a:xfrm>
            <a:off x="548640" y="1445768"/>
            <a:ext cx="2499284" cy="2011680"/>
          </a:xfrm>
          <a:prstGeom prst="roundRect">
            <a:avLst>
              <a:gd name="adj" fmla="val 5455"/>
            </a:avLst>
          </a:prstGeom>
          <a:solidFill>
            <a:srgbClr val="EEF4F8"/>
          </a:solidFill>
          <a:ln w="12700">
            <a:solidFill>
              <a:srgbClr val="EEF4F8"/>
            </a:solidFill>
            <a:prstDash val="solid"/>
          </a:ln>
        </p:spPr>
      </p:sp>
      <p:sp>
        <p:nvSpPr>
          <p:cNvPr id="5" name="Text 3"/>
          <p:cNvSpPr txBox="1"/>
          <p:nvPr/>
        </p:nvSpPr>
        <p:spPr>
          <a:xfrm>
            <a:off x="548640" y="1628648"/>
            <a:ext cx="2499284" cy="548640"/>
          </a:xfrm>
          <a:prstGeom prst="rect">
            <a:avLst/>
          </a:prstGeom>
          <a:noFill/>
          <a:ln/>
        </p:spPr>
        <p:txBody>
          <a:bodyPr wrap="square" lIns="0" tIns="0" rIns="0" bIns="0" rtlCol="0" anchor="t"/>
          <a:lstStyle/>
          <a:p>
            <a:pPr algn="ctr" indent="0" marL="0">
              <a:buNone/>
            </a:pPr>
            <a:r>
              <a:rPr lang="en-US" sz="3000" dirty="0">
                <a:solidFill>
                  <a:srgbClr val="0F172A"/>
                </a:solidFill>
                <a:latin typeface="Arial" pitchFamily="34" charset="0"/>
                <a:ea typeface="Arial" pitchFamily="34" charset="-122"/>
                <a:cs typeface="Arial" pitchFamily="34" charset="-120"/>
              </a:rPr>
              <a:t>🧪</a:t>
            </a:r>
            <a:endParaRPr lang="en-US" sz="3000" dirty="0"/>
          </a:p>
        </p:txBody>
      </p:sp>
      <p:sp>
        <p:nvSpPr>
          <p:cNvPr id="6" name="Text 4"/>
          <p:cNvSpPr txBox="1"/>
          <p:nvPr/>
        </p:nvSpPr>
        <p:spPr>
          <a:xfrm>
            <a:off x="685800" y="2223008"/>
            <a:ext cx="2224964" cy="365760"/>
          </a:xfrm>
          <a:prstGeom prst="rect">
            <a:avLst/>
          </a:prstGeom>
          <a:noFill/>
          <a:ln/>
        </p:spPr>
        <p:txBody>
          <a:bodyPr wrap="square" lIns="0" tIns="0" rIns="0" bIns="0" rtlCol="0" anchor="t"/>
          <a:lstStyle/>
          <a:p>
            <a:pPr algn="ctr" indent="0" marL="0">
              <a:buNone/>
            </a:pPr>
            <a:r>
              <a:rPr lang="en-US" sz="1800" b="1" dirty="0">
                <a:solidFill>
                  <a:srgbClr val="0B2A3F"/>
                </a:solidFill>
                <a:latin typeface="Arial" pitchFamily="34" charset="0"/>
                <a:ea typeface="Arial" pitchFamily="34" charset="-122"/>
                <a:cs typeface="Arial" pitchFamily="34" charset="-120"/>
              </a:rPr>
              <a:t>Water</a:t>
            </a:r>
            <a:endParaRPr lang="en-US" sz="1800" dirty="0"/>
          </a:p>
        </p:txBody>
      </p:sp>
      <p:sp>
        <p:nvSpPr>
          <p:cNvPr id="7" name="Text 5"/>
          <p:cNvSpPr txBox="1"/>
          <p:nvPr/>
        </p:nvSpPr>
        <p:spPr>
          <a:xfrm>
            <a:off x="685800" y="2634488"/>
            <a:ext cx="2224964" cy="731520"/>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from the harbour, Itivia and the lakes</a:t>
            </a:r>
            <a:endParaRPr lang="en-US" sz="1400" dirty="0"/>
          </a:p>
        </p:txBody>
      </p:sp>
      <p:sp>
        <p:nvSpPr>
          <p:cNvPr id="8" name="Text 6"/>
          <p:cNvSpPr txBox="1"/>
          <p:nvPr/>
        </p:nvSpPr>
        <p:spPr>
          <a:xfrm>
            <a:off x="3047924" y="2223008"/>
            <a:ext cx="365760" cy="457200"/>
          </a:xfrm>
          <a:prstGeom prst="rect">
            <a:avLst/>
          </a:prstGeom>
          <a:noFill/>
          <a:ln/>
        </p:spPr>
        <p:txBody>
          <a:bodyPr wrap="square" lIns="0" tIns="0" rIns="0" bIns="0" rtlCol="0" anchor="ctr"/>
          <a:lstStyle/>
          <a:p>
            <a:pPr algn="ctr" indent="0" marL="0">
              <a:buNone/>
            </a:pPr>
            <a:r>
              <a:rPr lang="en-US" sz="2400" dirty="0">
                <a:solidFill>
                  <a:srgbClr val="0369A1"/>
                </a:solidFill>
                <a:latin typeface="Arial" pitchFamily="34" charset="0"/>
                <a:ea typeface="Arial" pitchFamily="34" charset="-122"/>
                <a:cs typeface="Arial" pitchFamily="34" charset="-120"/>
              </a:rPr>
              <a:t>→</a:t>
            </a:r>
            <a:endParaRPr lang="en-US" sz="2400" dirty="0"/>
          </a:p>
        </p:txBody>
      </p:sp>
      <p:sp>
        <p:nvSpPr>
          <p:cNvPr id="9" name="step DNA"/>
          <p:cNvSpPr/>
          <p:nvPr/>
        </p:nvSpPr>
        <p:spPr>
          <a:xfrm>
            <a:off x="3413684" y="1445768"/>
            <a:ext cx="2499284" cy="2011680"/>
          </a:xfrm>
          <a:prstGeom prst="roundRect">
            <a:avLst>
              <a:gd name="adj" fmla="val 5455"/>
            </a:avLst>
          </a:prstGeom>
          <a:solidFill>
            <a:srgbClr val="EEF4F8"/>
          </a:solidFill>
          <a:ln w="12700">
            <a:solidFill>
              <a:srgbClr val="EEF4F8"/>
            </a:solidFill>
            <a:prstDash val="solid"/>
          </a:ln>
        </p:spPr>
      </p:sp>
      <p:sp>
        <p:nvSpPr>
          <p:cNvPr id="10" name="Text 8"/>
          <p:cNvSpPr txBox="1"/>
          <p:nvPr/>
        </p:nvSpPr>
        <p:spPr>
          <a:xfrm>
            <a:off x="3413684" y="1628648"/>
            <a:ext cx="2499284" cy="548640"/>
          </a:xfrm>
          <a:prstGeom prst="rect">
            <a:avLst/>
          </a:prstGeom>
          <a:noFill/>
          <a:ln/>
        </p:spPr>
        <p:txBody>
          <a:bodyPr wrap="square" lIns="0" tIns="0" rIns="0" bIns="0" rtlCol="0" anchor="t"/>
          <a:lstStyle/>
          <a:p>
            <a:pPr algn="ctr" indent="0" marL="0">
              <a:buNone/>
            </a:pPr>
            <a:r>
              <a:rPr lang="en-US" sz="3000" dirty="0">
                <a:solidFill>
                  <a:srgbClr val="0F172A"/>
                </a:solidFill>
                <a:latin typeface="Arial" pitchFamily="34" charset="0"/>
                <a:ea typeface="Arial" pitchFamily="34" charset="-122"/>
                <a:cs typeface="Arial" pitchFamily="34" charset="-120"/>
              </a:rPr>
              <a:t>🧬</a:t>
            </a:r>
            <a:endParaRPr lang="en-US" sz="3000" dirty="0"/>
          </a:p>
        </p:txBody>
      </p:sp>
      <p:sp>
        <p:nvSpPr>
          <p:cNvPr id="11" name="Text 9"/>
          <p:cNvSpPr txBox="1"/>
          <p:nvPr/>
        </p:nvSpPr>
        <p:spPr>
          <a:xfrm>
            <a:off x="3550844" y="2223008"/>
            <a:ext cx="2224964" cy="365760"/>
          </a:xfrm>
          <a:prstGeom prst="rect">
            <a:avLst/>
          </a:prstGeom>
          <a:noFill/>
          <a:ln/>
        </p:spPr>
        <p:txBody>
          <a:bodyPr wrap="square" lIns="0" tIns="0" rIns="0" bIns="0" rtlCol="0" anchor="t"/>
          <a:lstStyle/>
          <a:p>
            <a:pPr algn="ctr" indent="0" marL="0">
              <a:buNone/>
            </a:pPr>
            <a:r>
              <a:rPr lang="en-US" sz="1800" b="1" dirty="0">
                <a:solidFill>
                  <a:srgbClr val="0B2A3F"/>
                </a:solidFill>
                <a:latin typeface="Arial" pitchFamily="34" charset="0"/>
                <a:ea typeface="Arial" pitchFamily="34" charset="-122"/>
                <a:cs typeface="Arial" pitchFamily="34" charset="-120"/>
              </a:rPr>
              <a:t>DNA</a:t>
            </a:r>
            <a:endParaRPr lang="en-US" sz="1800" dirty="0"/>
          </a:p>
        </p:txBody>
      </p:sp>
      <p:sp>
        <p:nvSpPr>
          <p:cNvPr id="12" name="Text 10"/>
          <p:cNvSpPr txBox="1"/>
          <p:nvPr/>
        </p:nvSpPr>
        <p:spPr>
          <a:xfrm>
            <a:off x="3550844" y="2634488"/>
            <a:ext cx="2224964" cy="731520"/>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taken out of the water and kept frozen</a:t>
            </a:r>
            <a:endParaRPr lang="en-US" sz="1400" dirty="0"/>
          </a:p>
        </p:txBody>
      </p:sp>
      <p:sp>
        <p:nvSpPr>
          <p:cNvPr id="13" name="Text 11"/>
          <p:cNvSpPr txBox="1"/>
          <p:nvPr/>
        </p:nvSpPr>
        <p:spPr>
          <a:xfrm>
            <a:off x="5912968" y="2223008"/>
            <a:ext cx="365760" cy="457200"/>
          </a:xfrm>
          <a:prstGeom prst="rect">
            <a:avLst/>
          </a:prstGeom>
          <a:noFill/>
          <a:ln/>
        </p:spPr>
        <p:txBody>
          <a:bodyPr wrap="square" lIns="0" tIns="0" rIns="0" bIns="0" rtlCol="0" anchor="ctr"/>
          <a:lstStyle/>
          <a:p>
            <a:pPr algn="ctr" indent="0" marL="0">
              <a:buNone/>
            </a:pPr>
            <a:r>
              <a:rPr lang="en-US" sz="2400" dirty="0">
                <a:solidFill>
                  <a:srgbClr val="0369A1"/>
                </a:solidFill>
                <a:latin typeface="Arial" pitchFamily="34" charset="0"/>
                <a:ea typeface="Arial" pitchFamily="34" charset="-122"/>
                <a:cs typeface="Arial" pitchFamily="34" charset="-120"/>
              </a:rPr>
              <a:t>→</a:t>
            </a:r>
            <a:endParaRPr lang="en-US" sz="2400" dirty="0"/>
          </a:p>
        </p:txBody>
      </p:sp>
      <p:sp>
        <p:nvSpPr>
          <p:cNvPr id="14" name="step Genomes"/>
          <p:cNvSpPr/>
          <p:nvPr/>
        </p:nvSpPr>
        <p:spPr>
          <a:xfrm>
            <a:off x="6278728" y="1445768"/>
            <a:ext cx="2499284" cy="2011680"/>
          </a:xfrm>
          <a:prstGeom prst="roundRect">
            <a:avLst>
              <a:gd name="adj" fmla="val 5455"/>
            </a:avLst>
          </a:prstGeom>
          <a:solidFill>
            <a:srgbClr val="EEF4F8"/>
          </a:solidFill>
          <a:ln w="12700">
            <a:solidFill>
              <a:srgbClr val="EEF4F8"/>
            </a:solidFill>
            <a:prstDash val="solid"/>
          </a:ln>
        </p:spPr>
      </p:sp>
      <p:sp>
        <p:nvSpPr>
          <p:cNvPr id="15" name="Text 13"/>
          <p:cNvSpPr txBox="1"/>
          <p:nvPr/>
        </p:nvSpPr>
        <p:spPr>
          <a:xfrm>
            <a:off x="6278728" y="1628648"/>
            <a:ext cx="2499284" cy="548640"/>
          </a:xfrm>
          <a:prstGeom prst="rect">
            <a:avLst/>
          </a:prstGeom>
          <a:noFill/>
          <a:ln/>
        </p:spPr>
        <p:txBody>
          <a:bodyPr wrap="square" lIns="0" tIns="0" rIns="0" bIns="0" rtlCol="0" anchor="t"/>
          <a:lstStyle/>
          <a:p>
            <a:pPr algn="ctr" indent="0" marL="0">
              <a:buNone/>
            </a:pPr>
            <a:r>
              <a:rPr lang="en-US" sz="3000" dirty="0">
                <a:solidFill>
                  <a:srgbClr val="0F172A"/>
                </a:solidFill>
                <a:latin typeface="Arial" pitchFamily="34" charset="0"/>
                <a:ea typeface="Arial" pitchFamily="34" charset="-122"/>
                <a:cs typeface="Arial" pitchFamily="34" charset="-120"/>
              </a:rPr>
              <a:t>🦠</a:t>
            </a:r>
            <a:endParaRPr lang="en-US" sz="3000" dirty="0"/>
          </a:p>
        </p:txBody>
      </p:sp>
      <p:sp>
        <p:nvSpPr>
          <p:cNvPr id="16" name="Text 14"/>
          <p:cNvSpPr txBox="1"/>
          <p:nvPr/>
        </p:nvSpPr>
        <p:spPr>
          <a:xfrm>
            <a:off x="6415888" y="2223008"/>
            <a:ext cx="2224964" cy="365760"/>
          </a:xfrm>
          <a:prstGeom prst="rect">
            <a:avLst/>
          </a:prstGeom>
          <a:noFill/>
          <a:ln/>
        </p:spPr>
        <p:txBody>
          <a:bodyPr wrap="square" lIns="0" tIns="0" rIns="0" bIns="0" rtlCol="0" anchor="t"/>
          <a:lstStyle/>
          <a:p>
            <a:pPr algn="ctr" indent="0" marL="0">
              <a:buNone/>
            </a:pPr>
            <a:r>
              <a:rPr lang="en-US" sz="1800" b="1" dirty="0">
                <a:solidFill>
                  <a:srgbClr val="0B2A3F"/>
                </a:solidFill>
                <a:latin typeface="Arial" pitchFamily="34" charset="0"/>
                <a:ea typeface="Arial" pitchFamily="34" charset="-122"/>
                <a:cs typeface="Arial" pitchFamily="34" charset="-120"/>
              </a:rPr>
              <a:t>Genomes</a:t>
            </a:r>
            <a:endParaRPr lang="en-US" sz="1800" dirty="0"/>
          </a:p>
        </p:txBody>
      </p:sp>
      <p:sp>
        <p:nvSpPr>
          <p:cNvPr id="17" name="Text 15"/>
          <p:cNvSpPr txBox="1"/>
          <p:nvPr/>
        </p:nvSpPr>
        <p:spPr>
          <a:xfrm>
            <a:off x="6415888" y="2634488"/>
            <a:ext cx="2224964" cy="731520"/>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the full set of genes of one microbe</a:t>
            </a:r>
            <a:endParaRPr lang="en-US" sz="1400" dirty="0"/>
          </a:p>
        </p:txBody>
      </p:sp>
      <p:sp>
        <p:nvSpPr>
          <p:cNvPr id="18" name="Text 16"/>
          <p:cNvSpPr txBox="1"/>
          <p:nvPr/>
        </p:nvSpPr>
        <p:spPr>
          <a:xfrm>
            <a:off x="8778011" y="2223008"/>
            <a:ext cx="365760" cy="457200"/>
          </a:xfrm>
          <a:prstGeom prst="rect">
            <a:avLst/>
          </a:prstGeom>
          <a:noFill/>
          <a:ln/>
        </p:spPr>
        <p:txBody>
          <a:bodyPr wrap="square" lIns="0" tIns="0" rIns="0" bIns="0" rtlCol="0" anchor="ctr"/>
          <a:lstStyle/>
          <a:p>
            <a:pPr algn="ctr" indent="0" marL="0">
              <a:buNone/>
            </a:pPr>
            <a:r>
              <a:rPr lang="en-US" sz="2400" dirty="0">
                <a:solidFill>
                  <a:srgbClr val="0369A1"/>
                </a:solidFill>
                <a:latin typeface="Arial" pitchFamily="34" charset="0"/>
                <a:ea typeface="Arial" pitchFamily="34" charset="-122"/>
                <a:cs typeface="Arial" pitchFamily="34" charset="-120"/>
              </a:rPr>
              <a:t>→</a:t>
            </a:r>
            <a:endParaRPr lang="en-US" sz="2400" dirty="0"/>
          </a:p>
        </p:txBody>
      </p:sp>
      <p:sp>
        <p:nvSpPr>
          <p:cNvPr id="19" name="step Names"/>
          <p:cNvSpPr/>
          <p:nvPr/>
        </p:nvSpPr>
        <p:spPr>
          <a:xfrm>
            <a:off x="9143771" y="1445768"/>
            <a:ext cx="2499284" cy="2011680"/>
          </a:xfrm>
          <a:prstGeom prst="roundRect">
            <a:avLst>
              <a:gd name="adj" fmla="val 5455"/>
            </a:avLst>
          </a:prstGeom>
          <a:solidFill>
            <a:srgbClr val="EEF4F8"/>
          </a:solidFill>
          <a:ln w="12700">
            <a:solidFill>
              <a:srgbClr val="EEF4F8"/>
            </a:solidFill>
            <a:prstDash val="solid"/>
          </a:ln>
        </p:spPr>
      </p:sp>
      <p:sp>
        <p:nvSpPr>
          <p:cNvPr id="20" name="Text 18"/>
          <p:cNvSpPr txBox="1"/>
          <p:nvPr/>
        </p:nvSpPr>
        <p:spPr>
          <a:xfrm>
            <a:off x="9143771" y="1628648"/>
            <a:ext cx="2499284" cy="548640"/>
          </a:xfrm>
          <a:prstGeom prst="rect">
            <a:avLst/>
          </a:prstGeom>
          <a:noFill/>
          <a:ln/>
        </p:spPr>
        <p:txBody>
          <a:bodyPr wrap="square" lIns="0" tIns="0" rIns="0" bIns="0" rtlCol="0" anchor="t"/>
          <a:lstStyle/>
          <a:p>
            <a:pPr algn="ctr" indent="0" marL="0">
              <a:buNone/>
            </a:pPr>
            <a:r>
              <a:rPr lang="en-US" sz="3000" dirty="0">
                <a:solidFill>
                  <a:srgbClr val="0F172A"/>
                </a:solidFill>
                <a:latin typeface="Arial" pitchFamily="34" charset="0"/>
                <a:ea typeface="Arial" pitchFamily="34" charset="-122"/>
                <a:cs typeface="Arial" pitchFamily="34" charset="-120"/>
              </a:rPr>
              <a:t>🏷️</a:t>
            </a:r>
            <a:endParaRPr lang="en-US" sz="3000" dirty="0"/>
          </a:p>
        </p:txBody>
      </p:sp>
      <p:sp>
        <p:nvSpPr>
          <p:cNvPr id="21" name="Text 19"/>
          <p:cNvSpPr txBox="1"/>
          <p:nvPr/>
        </p:nvSpPr>
        <p:spPr>
          <a:xfrm>
            <a:off x="9280931" y="2223008"/>
            <a:ext cx="2224964" cy="365760"/>
          </a:xfrm>
          <a:prstGeom prst="rect">
            <a:avLst/>
          </a:prstGeom>
          <a:noFill/>
          <a:ln/>
        </p:spPr>
        <p:txBody>
          <a:bodyPr wrap="square" lIns="0" tIns="0" rIns="0" bIns="0" rtlCol="0" anchor="t"/>
          <a:lstStyle/>
          <a:p>
            <a:pPr algn="ctr" indent="0" marL="0">
              <a:buNone/>
            </a:pPr>
            <a:r>
              <a:rPr lang="en-US" sz="1800" b="1" dirty="0">
                <a:solidFill>
                  <a:srgbClr val="0B2A3F"/>
                </a:solidFill>
                <a:latin typeface="Arial" pitchFamily="34" charset="0"/>
                <a:ea typeface="Arial" pitchFamily="34" charset="-122"/>
                <a:cs typeface="Arial" pitchFamily="34" charset="-120"/>
              </a:rPr>
              <a:t>Names</a:t>
            </a:r>
            <a:endParaRPr lang="en-US" sz="1800" dirty="0"/>
          </a:p>
        </p:txBody>
      </p:sp>
      <p:sp>
        <p:nvSpPr>
          <p:cNvPr id="22" name="Text 20"/>
          <p:cNvSpPr txBox="1"/>
          <p:nvPr/>
        </p:nvSpPr>
        <p:spPr>
          <a:xfrm>
            <a:off x="9280931" y="2634488"/>
            <a:ext cx="2224964" cy="731520"/>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Inuktitut words and their meanings</a:t>
            </a:r>
            <a:endParaRPr lang="en-US" sz="1400" dirty="0"/>
          </a:p>
        </p:txBody>
      </p:sp>
      <p:sp>
        <p:nvSpPr>
          <p:cNvPr id="23" name="Text 21"/>
          <p:cNvSpPr txBox="1"/>
          <p:nvPr/>
        </p:nvSpPr>
        <p:spPr>
          <a:xfrm>
            <a:off x="548640" y="3731768"/>
            <a:ext cx="11094415" cy="67056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Each step produces something different, and each can have its own rules about who keeps it and who can see it.</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THE IDEA</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What is data sovereignty?</a:t>
            </a:r>
            <a:endParaRPr lang="en-US" sz="3200" dirty="0"/>
          </a:p>
        </p:txBody>
      </p:sp>
      <p:sp>
        <p:nvSpPr>
          <p:cNvPr id="4" name="Text 2"/>
          <p:cNvSpPr txBox="1"/>
          <p:nvPr/>
        </p:nvSpPr>
        <p:spPr>
          <a:xfrm>
            <a:off x="548640" y="1445768"/>
            <a:ext cx="11094415" cy="67056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Inuit decide how information about their people, land, water and animals is collected, kept, used and shared.</a:t>
            </a:r>
            <a:endParaRPr lang="en-US" sz="2200" dirty="0"/>
          </a:p>
        </p:txBody>
      </p:sp>
      <p:sp>
        <p:nvSpPr>
          <p:cNvPr id="5" name="box Scientists like to share"/>
          <p:cNvSpPr/>
          <p:nvPr/>
        </p:nvSpPr>
        <p:spPr>
          <a:xfrm>
            <a:off x="548640" y="2299208"/>
            <a:ext cx="5410048" cy="1676400"/>
          </a:xfrm>
          <a:prstGeom prst="roundRect">
            <a:avLst>
              <a:gd name="adj" fmla="val 6545"/>
            </a:avLst>
          </a:prstGeom>
          <a:solidFill>
            <a:srgbClr val="EEF4F8"/>
          </a:solidFill>
          <a:ln w="12700">
            <a:solidFill>
              <a:srgbClr val="EEF4F8"/>
            </a:solidFill>
            <a:prstDash val="solid"/>
          </a:ln>
        </p:spPr>
      </p:sp>
      <p:sp>
        <p:nvSpPr>
          <p:cNvPr id="6" name="Text 4"/>
          <p:cNvSpPr txBox="1"/>
          <p:nvPr/>
        </p:nvSpPr>
        <p:spPr>
          <a:xfrm>
            <a:off x="749808" y="2500376"/>
            <a:ext cx="5007712" cy="1274064"/>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B2A3F"/>
                </a:solidFill>
                <a:latin typeface="Arial" pitchFamily="34" charset="0"/>
                <a:ea typeface="Arial" pitchFamily="34" charset="-122"/>
                <a:cs typeface="Arial" pitchFamily="34" charset="-120"/>
              </a:rPr>
              <a:t>Scientists like to share</a:t>
            </a:r>
            <a:endParaRPr lang="en-US" sz="2000" dirty="0"/>
          </a:p>
          <a:p>
            <a:pPr indent="0" marL="0">
              <a:spcAft>
                <a:spcPts val="600"/>
              </a:spcAft>
              <a:buNone/>
            </a:pPr>
            <a:r>
              <a:rPr lang="en-US" sz="1800" dirty="0">
                <a:solidFill>
                  <a:srgbClr val="0F172A"/>
                </a:solidFill>
                <a:latin typeface="Arial" pitchFamily="34" charset="0"/>
                <a:ea typeface="Arial" pitchFamily="34" charset="-122"/>
                <a:cs typeface="Arial" pitchFamily="34" charset="-120"/>
              </a:rPr>
              <a:t>Scientists put their data online so others can check it and learn from it.</a:t>
            </a:r>
            <a:endParaRPr lang="en-US" sz="2000" dirty="0"/>
          </a:p>
        </p:txBody>
      </p:sp>
      <p:sp>
        <p:nvSpPr>
          <p:cNvPr id="7" name="box Communities have a say"/>
          <p:cNvSpPr/>
          <p:nvPr/>
        </p:nvSpPr>
        <p:spPr>
          <a:xfrm>
            <a:off x="6233008" y="2299208"/>
            <a:ext cx="5410048" cy="1676400"/>
          </a:xfrm>
          <a:prstGeom prst="roundRect">
            <a:avLst>
              <a:gd name="adj" fmla="val 6545"/>
            </a:avLst>
          </a:prstGeom>
          <a:solidFill>
            <a:srgbClr val="E7F5EF"/>
          </a:solidFill>
          <a:ln w="12700">
            <a:solidFill>
              <a:srgbClr val="E7F5EF"/>
            </a:solidFill>
            <a:prstDash val="solid"/>
          </a:ln>
        </p:spPr>
      </p:sp>
      <p:sp>
        <p:nvSpPr>
          <p:cNvPr id="8" name="Text 6"/>
          <p:cNvSpPr txBox="1"/>
          <p:nvPr/>
        </p:nvSpPr>
        <p:spPr>
          <a:xfrm>
            <a:off x="6434176" y="2500376"/>
            <a:ext cx="5007712" cy="1274064"/>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47857"/>
                </a:solidFill>
                <a:latin typeface="Arial" pitchFamily="34" charset="0"/>
                <a:ea typeface="Arial" pitchFamily="34" charset="-122"/>
                <a:cs typeface="Arial" pitchFamily="34" charset="-120"/>
              </a:rPr>
              <a:t>Communities have a say</a:t>
            </a:r>
            <a:endParaRPr lang="en-US" sz="2000" dirty="0"/>
          </a:p>
          <a:p>
            <a:pPr indent="0" marL="0">
              <a:spcAft>
                <a:spcPts val="600"/>
              </a:spcAft>
              <a:buNone/>
            </a:pPr>
            <a:r>
              <a:rPr lang="en-US" sz="1800" dirty="0">
                <a:solidFill>
                  <a:srgbClr val="0F172A"/>
                </a:solidFill>
                <a:latin typeface="Arial" pitchFamily="34" charset="0"/>
                <a:ea typeface="Arial" pitchFamily="34" charset="-122"/>
                <a:cs typeface="Arial" pitchFamily="34" charset="-120"/>
              </a:rPr>
              <a:t>Communities also want to know who agreed to the research, how it benefits them, and who looks after the data.</a:t>
            </a:r>
            <a:endParaRPr lang="en-US" sz="2000" dirty="0"/>
          </a:p>
        </p:txBody>
      </p:sp>
      <p:sp>
        <p:nvSpPr>
          <p:cNvPr id="9" name="Text 7"/>
          <p:cNvSpPr txBox="1"/>
          <p:nvPr/>
        </p:nvSpPr>
        <p:spPr>
          <a:xfrm>
            <a:off x="548640" y="4249928"/>
            <a:ext cx="11094415" cy="67056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The two can work together: we share what we agree to share and look after the rest.</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INUIT HAVE ALREADY SAID THIS</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What Inuit organizations have said about research data</a:t>
            </a:r>
            <a:endParaRPr lang="en-US" sz="3200" dirty="0"/>
          </a:p>
        </p:txBody>
      </p:sp>
      <p:sp>
        <p:nvSpPr>
          <p:cNvPr id="4" name="box Inuit Tapiriit Kanatami (2018)"/>
          <p:cNvSpPr/>
          <p:nvPr/>
        </p:nvSpPr>
        <p:spPr>
          <a:xfrm>
            <a:off x="548640" y="1913128"/>
            <a:ext cx="5410048" cy="2633472"/>
          </a:xfrm>
          <a:prstGeom prst="roundRect">
            <a:avLst>
              <a:gd name="adj" fmla="val 4167"/>
            </a:avLst>
          </a:prstGeom>
          <a:solidFill>
            <a:srgbClr val="E6F1F8"/>
          </a:solidFill>
          <a:ln w="12700">
            <a:solidFill>
              <a:srgbClr val="E6F1F8"/>
            </a:solidFill>
            <a:prstDash val="solid"/>
          </a:ln>
        </p:spPr>
      </p:sp>
      <p:sp>
        <p:nvSpPr>
          <p:cNvPr id="5" name="Text 3"/>
          <p:cNvSpPr txBox="1"/>
          <p:nvPr/>
        </p:nvSpPr>
        <p:spPr>
          <a:xfrm>
            <a:off x="749808" y="2114296"/>
            <a:ext cx="5007712" cy="2231136"/>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369A1"/>
                </a:solidFill>
                <a:latin typeface="Arial" pitchFamily="34" charset="0"/>
                <a:ea typeface="Arial" pitchFamily="34" charset="-122"/>
                <a:cs typeface="Arial" pitchFamily="34" charset="-120"/>
              </a:rPr>
              <a:t>Inuit Tapiriit Kanatami (2018)</a:t>
            </a:r>
            <a:endParaRPr lang="en-US" sz="2000" dirty="0"/>
          </a:p>
          <a:p>
            <a:pPr indent="0" marL="0">
              <a:spcAft>
                <a:spcPts val="600"/>
              </a:spcAft>
              <a:buNone/>
            </a:pPr>
            <a:r>
              <a:rPr lang="en-US" sz="1900" i="1" dirty="0">
                <a:solidFill>
                  <a:srgbClr val="0F172A"/>
                </a:solidFill>
                <a:latin typeface="Arial" pitchFamily="34" charset="0"/>
                <a:ea typeface="Arial" pitchFamily="34" charset="-122"/>
                <a:cs typeface="Arial" pitchFamily="34" charset="-120"/>
              </a:rPr>
              <a:t>"Ensure Inuit access, ownership, and control over data and information."</a:t>
            </a:r>
            <a:endParaRPr lang="en-US" sz="2000" dirty="0"/>
          </a:p>
          <a:p>
            <a:pPr indent="0" marL="0">
              <a:spcAft>
                <a:spcPts val="600"/>
              </a:spcAft>
              <a:buNone/>
            </a:pPr>
            <a:r>
              <a:rPr lang="en-US" sz="1800" dirty="0">
                <a:solidFill>
                  <a:srgbClr val="0F172A"/>
                </a:solidFill>
                <a:latin typeface="Arial" pitchFamily="34" charset="0"/>
                <a:ea typeface="Arial" pitchFamily="34" charset="-122"/>
                <a:cs typeface="Arial" pitchFamily="34" charset="-120"/>
              </a:rPr>
              <a:t>This covers data about Inuit land, water and animals, not only about people.</a:t>
            </a:r>
            <a:endParaRPr lang="en-US" sz="2000" dirty="0"/>
          </a:p>
        </p:txBody>
      </p:sp>
      <p:sp>
        <p:nvSpPr>
          <p:cNvPr id="6" name="box Inuit Circumpolar Council (2022)"/>
          <p:cNvSpPr/>
          <p:nvPr/>
        </p:nvSpPr>
        <p:spPr>
          <a:xfrm>
            <a:off x="6233008" y="1913128"/>
            <a:ext cx="5410048" cy="2633472"/>
          </a:xfrm>
          <a:prstGeom prst="roundRect">
            <a:avLst>
              <a:gd name="adj" fmla="val 4167"/>
            </a:avLst>
          </a:prstGeom>
          <a:solidFill>
            <a:srgbClr val="E7F5EF"/>
          </a:solidFill>
          <a:ln w="12700">
            <a:solidFill>
              <a:srgbClr val="E7F5EF"/>
            </a:solidFill>
            <a:prstDash val="solid"/>
          </a:ln>
        </p:spPr>
      </p:sp>
      <p:sp>
        <p:nvSpPr>
          <p:cNvPr id="7" name="Text 5"/>
          <p:cNvSpPr txBox="1"/>
          <p:nvPr/>
        </p:nvSpPr>
        <p:spPr>
          <a:xfrm>
            <a:off x="6434176" y="2114296"/>
            <a:ext cx="5007712" cy="2231136"/>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47857"/>
                </a:solidFill>
                <a:latin typeface="Arial" pitchFamily="34" charset="0"/>
                <a:ea typeface="Arial" pitchFamily="34" charset="-122"/>
                <a:cs typeface="Arial" pitchFamily="34" charset="-120"/>
              </a:rPr>
              <a:t>Inuit Circumpolar Council (2022)</a:t>
            </a:r>
            <a:endParaRPr lang="en-US" sz="2000" dirty="0"/>
          </a:p>
          <a:p>
            <a:pPr indent="0" marL="0">
              <a:spcAft>
                <a:spcPts val="600"/>
              </a:spcAft>
              <a:buNone/>
            </a:pPr>
            <a:r>
              <a:rPr lang="en-US" sz="1900" i="1" dirty="0">
                <a:solidFill>
                  <a:srgbClr val="0F172A"/>
                </a:solidFill>
                <a:latin typeface="Arial" pitchFamily="34" charset="0"/>
                <a:ea typeface="Arial" pitchFamily="34" charset="-122"/>
                <a:cs typeface="Arial" pitchFamily="34" charset="-120"/>
              </a:rPr>
              <a:t>"Inuit access to all raw information and data collected within Inuit Nunaat should be agreed upon and ensured. Including scientific information and data."</a:t>
            </a:r>
            <a:endParaRPr lang="en-US" sz="2000" dirty="0"/>
          </a:p>
          <a:p>
            <a:pPr indent="0" marL="0">
              <a:spcAft>
                <a:spcPts val="600"/>
              </a:spcAft>
              <a:buNone/>
            </a:pPr>
            <a:r>
              <a:rPr lang="en-US" sz="1800" dirty="0">
                <a:solidFill>
                  <a:srgbClr val="0F172A"/>
                </a:solidFill>
                <a:latin typeface="Arial" pitchFamily="34" charset="0"/>
                <a:ea typeface="Arial" pitchFamily="34" charset="-122"/>
                <a:cs typeface="Arial" pitchFamily="34" charset="-120"/>
              </a:rPr>
              <a:t>It also asks that Inuit review results before they are made public.</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SAYING YES OR NO</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Three ways to answer</a:t>
            </a:r>
            <a:endParaRPr lang="en-US" sz="3200" dirty="0"/>
          </a:p>
        </p:txBody>
      </p:sp>
      <p:sp>
        <p:nvSpPr>
          <p:cNvPr id="4" name="answer Yes"/>
          <p:cNvSpPr/>
          <p:nvPr/>
        </p:nvSpPr>
        <p:spPr>
          <a:xfrm>
            <a:off x="548640" y="1445768"/>
            <a:ext cx="3515258" cy="1280160"/>
          </a:xfrm>
          <a:prstGeom prst="roundRect">
            <a:avLst>
              <a:gd name="adj" fmla="val 8571"/>
            </a:avLst>
          </a:prstGeom>
          <a:solidFill>
            <a:srgbClr val="E7F5EF"/>
          </a:solidFill>
          <a:ln w="19050">
            <a:solidFill>
              <a:srgbClr val="047857"/>
            </a:solidFill>
            <a:prstDash val="solid"/>
          </a:ln>
        </p:spPr>
      </p:sp>
      <p:sp>
        <p:nvSpPr>
          <p:cNvPr id="5" name="Text 3"/>
          <p:cNvSpPr txBox="1"/>
          <p:nvPr/>
        </p:nvSpPr>
        <p:spPr>
          <a:xfrm>
            <a:off x="548640" y="1674368"/>
            <a:ext cx="3515258" cy="502920"/>
          </a:xfrm>
          <a:prstGeom prst="rect">
            <a:avLst/>
          </a:prstGeom>
          <a:noFill/>
          <a:ln/>
        </p:spPr>
        <p:txBody>
          <a:bodyPr wrap="square" lIns="0" tIns="0" rIns="0" bIns="0" rtlCol="0" anchor="t"/>
          <a:lstStyle/>
          <a:p>
            <a:pPr algn="ctr" indent="0" marL="0">
              <a:buNone/>
            </a:pPr>
            <a:r>
              <a:rPr lang="en-US" sz="2400" b="1" dirty="0">
                <a:solidFill>
                  <a:srgbClr val="047857"/>
                </a:solidFill>
                <a:latin typeface="Arial" pitchFamily="34" charset="0"/>
                <a:ea typeface="Arial" pitchFamily="34" charset="-122"/>
                <a:cs typeface="Arial" pitchFamily="34" charset="-120"/>
              </a:rPr>
              <a:t>Yes</a:t>
            </a:r>
            <a:endParaRPr lang="en-US" sz="2400" dirty="0"/>
          </a:p>
        </p:txBody>
      </p:sp>
      <p:sp>
        <p:nvSpPr>
          <p:cNvPr id="6" name="Text 4"/>
          <p:cNvSpPr txBox="1"/>
          <p:nvPr/>
        </p:nvSpPr>
        <p:spPr>
          <a:xfrm>
            <a:off x="548640" y="2223008"/>
            <a:ext cx="3515258" cy="365760"/>
          </a:xfrm>
          <a:prstGeom prst="rect">
            <a:avLst/>
          </a:prstGeom>
          <a:noFill/>
          <a:ln/>
        </p:spPr>
        <p:txBody>
          <a:bodyPr wrap="square" lIns="0" tIns="0" rIns="0" bIns="0" rtlCol="0" anchor="t"/>
          <a:lstStyle/>
          <a:p>
            <a:pPr algn="ctr" indent="0" marL="0">
              <a:buNone/>
            </a:pPr>
            <a:r>
              <a:rPr lang="en-US" sz="1500" dirty="0">
                <a:solidFill>
                  <a:srgbClr val="475569"/>
                </a:solidFill>
                <a:latin typeface="Arial" pitchFamily="34" charset="0"/>
                <a:ea typeface="Arial" pitchFamily="34" charset="-122"/>
                <a:cs typeface="Arial" pitchFamily="34" charset="-120"/>
              </a:rPr>
              <a:t>go ahead</a:t>
            </a:r>
            <a:endParaRPr lang="en-US" sz="1500" dirty="0"/>
          </a:p>
        </p:txBody>
      </p:sp>
      <p:sp>
        <p:nvSpPr>
          <p:cNvPr id="7" name="answer Yes, with conditions"/>
          <p:cNvSpPr/>
          <p:nvPr/>
        </p:nvSpPr>
        <p:spPr>
          <a:xfrm>
            <a:off x="4338218" y="1445768"/>
            <a:ext cx="3515258" cy="1280160"/>
          </a:xfrm>
          <a:prstGeom prst="roundRect">
            <a:avLst>
              <a:gd name="adj" fmla="val 8571"/>
            </a:avLst>
          </a:prstGeom>
          <a:solidFill>
            <a:srgbClr val="FEF3C7"/>
          </a:solidFill>
          <a:ln w="19050">
            <a:solidFill>
              <a:srgbClr val="B45309"/>
            </a:solidFill>
            <a:prstDash val="solid"/>
          </a:ln>
        </p:spPr>
      </p:sp>
      <p:sp>
        <p:nvSpPr>
          <p:cNvPr id="8" name="Text 6"/>
          <p:cNvSpPr txBox="1"/>
          <p:nvPr/>
        </p:nvSpPr>
        <p:spPr>
          <a:xfrm>
            <a:off x="4338218" y="1674368"/>
            <a:ext cx="3515258" cy="502920"/>
          </a:xfrm>
          <a:prstGeom prst="rect">
            <a:avLst/>
          </a:prstGeom>
          <a:noFill/>
          <a:ln/>
        </p:spPr>
        <p:txBody>
          <a:bodyPr wrap="square" lIns="0" tIns="0" rIns="0" bIns="0" rtlCol="0" anchor="t"/>
          <a:lstStyle/>
          <a:p>
            <a:pPr algn="ctr" indent="0" marL="0">
              <a:buNone/>
            </a:pPr>
            <a:r>
              <a:rPr lang="en-US" sz="2400" b="1" dirty="0">
                <a:solidFill>
                  <a:srgbClr val="B45309"/>
                </a:solidFill>
                <a:latin typeface="Arial" pitchFamily="34" charset="0"/>
                <a:ea typeface="Arial" pitchFamily="34" charset="-122"/>
                <a:cs typeface="Arial" pitchFamily="34" charset="-120"/>
              </a:rPr>
              <a:t>Yes, with conditions</a:t>
            </a:r>
            <a:endParaRPr lang="en-US" sz="2400" dirty="0"/>
          </a:p>
        </p:txBody>
      </p:sp>
      <p:sp>
        <p:nvSpPr>
          <p:cNvPr id="9" name="Text 7"/>
          <p:cNvSpPr txBox="1"/>
          <p:nvPr/>
        </p:nvSpPr>
        <p:spPr>
          <a:xfrm>
            <a:off x="4338218" y="2223008"/>
            <a:ext cx="3515258" cy="365760"/>
          </a:xfrm>
          <a:prstGeom prst="rect">
            <a:avLst/>
          </a:prstGeom>
          <a:noFill/>
          <a:ln/>
        </p:spPr>
        <p:txBody>
          <a:bodyPr wrap="square" lIns="0" tIns="0" rIns="0" bIns="0" rtlCol="0" anchor="t"/>
          <a:lstStyle/>
          <a:p>
            <a:pPr algn="ctr" indent="0" marL="0">
              <a:buNone/>
            </a:pPr>
            <a:r>
              <a:rPr lang="en-US" sz="1500" dirty="0">
                <a:solidFill>
                  <a:srgbClr val="475569"/>
                </a:solidFill>
                <a:latin typeface="Arial" pitchFamily="34" charset="0"/>
                <a:ea typeface="Arial" pitchFamily="34" charset="-122"/>
                <a:cs typeface="Arial" pitchFamily="34" charset="-120"/>
              </a:rPr>
              <a:t>go ahead, in the way agreed</a:t>
            </a:r>
            <a:endParaRPr lang="en-US" sz="1500" dirty="0"/>
          </a:p>
        </p:txBody>
      </p:sp>
      <p:sp>
        <p:nvSpPr>
          <p:cNvPr id="10" name="answer No"/>
          <p:cNvSpPr/>
          <p:nvPr/>
        </p:nvSpPr>
        <p:spPr>
          <a:xfrm>
            <a:off x="8127797" y="1445768"/>
            <a:ext cx="3515258" cy="1280160"/>
          </a:xfrm>
          <a:prstGeom prst="roundRect">
            <a:avLst>
              <a:gd name="adj" fmla="val 8571"/>
            </a:avLst>
          </a:prstGeom>
          <a:solidFill>
            <a:srgbClr val="FCE8EC"/>
          </a:solidFill>
          <a:ln w="19050">
            <a:solidFill>
              <a:srgbClr val="BE123C"/>
            </a:solidFill>
            <a:prstDash val="solid"/>
          </a:ln>
        </p:spPr>
      </p:sp>
      <p:sp>
        <p:nvSpPr>
          <p:cNvPr id="11" name="Text 9"/>
          <p:cNvSpPr txBox="1"/>
          <p:nvPr/>
        </p:nvSpPr>
        <p:spPr>
          <a:xfrm>
            <a:off x="8127797" y="1674368"/>
            <a:ext cx="3515258" cy="502920"/>
          </a:xfrm>
          <a:prstGeom prst="rect">
            <a:avLst/>
          </a:prstGeom>
          <a:noFill/>
          <a:ln/>
        </p:spPr>
        <p:txBody>
          <a:bodyPr wrap="square" lIns="0" tIns="0" rIns="0" bIns="0" rtlCol="0" anchor="t"/>
          <a:lstStyle/>
          <a:p>
            <a:pPr algn="ctr" indent="0" marL="0">
              <a:buNone/>
            </a:pPr>
            <a:r>
              <a:rPr lang="en-US" sz="2400" b="1" dirty="0">
                <a:solidFill>
                  <a:srgbClr val="BE123C"/>
                </a:solidFill>
                <a:latin typeface="Arial" pitchFamily="34" charset="0"/>
                <a:ea typeface="Arial" pitchFamily="34" charset="-122"/>
                <a:cs typeface="Arial" pitchFamily="34" charset="-120"/>
              </a:rPr>
              <a:t>No</a:t>
            </a:r>
            <a:endParaRPr lang="en-US" sz="2400" dirty="0"/>
          </a:p>
        </p:txBody>
      </p:sp>
      <p:sp>
        <p:nvSpPr>
          <p:cNvPr id="12" name="Text 10"/>
          <p:cNvSpPr txBox="1"/>
          <p:nvPr/>
        </p:nvSpPr>
        <p:spPr>
          <a:xfrm>
            <a:off x="8127797" y="2223008"/>
            <a:ext cx="3515258" cy="365760"/>
          </a:xfrm>
          <a:prstGeom prst="rect">
            <a:avLst/>
          </a:prstGeom>
          <a:noFill/>
          <a:ln/>
        </p:spPr>
        <p:txBody>
          <a:bodyPr wrap="square" lIns="0" tIns="0" rIns="0" bIns="0" rtlCol="0" anchor="t"/>
          <a:lstStyle/>
          <a:p>
            <a:pPr algn="ctr" indent="0" marL="0">
              <a:buNone/>
            </a:pPr>
            <a:r>
              <a:rPr lang="en-US" sz="1500" dirty="0">
                <a:solidFill>
                  <a:srgbClr val="475569"/>
                </a:solidFill>
                <a:latin typeface="Arial" pitchFamily="34" charset="0"/>
                <a:ea typeface="Arial" pitchFamily="34" charset="-122"/>
                <a:cs typeface="Arial" pitchFamily="34" charset="-120"/>
              </a:rPr>
              <a:t>do not go ahead</a:t>
            </a:r>
            <a:endParaRPr lang="en-US" sz="1500" dirty="0"/>
          </a:p>
        </p:txBody>
      </p:sp>
      <p:sp>
        <p:nvSpPr>
          <p:cNvPr id="13" name="note"/>
          <p:cNvSpPr/>
          <p:nvPr/>
        </p:nvSpPr>
        <p:spPr>
          <a:xfrm>
            <a:off x="548640" y="3000248"/>
            <a:ext cx="11094415" cy="640080"/>
          </a:xfrm>
          <a:prstGeom prst="roundRect">
            <a:avLst>
              <a:gd name="adj" fmla="val 14286"/>
            </a:avLst>
          </a:prstGeom>
          <a:solidFill>
            <a:srgbClr val="FFFFFF"/>
          </a:solidFill>
          <a:ln w="15875">
            <a:solidFill>
              <a:srgbClr val="475569"/>
            </a:solidFill>
            <a:prstDash val="dash"/>
          </a:ln>
        </p:spPr>
      </p:sp>
      <p:sp>
        <p:nvSpPr>
          <p:cNvPr id="14" name="Text 12"/>
          <p:cNvSpPr txBox="1"/>
          <p:nvPr/>
        </p:nvSpPr>
        <p:spPr>
          <a:xfrm>
            <a:off x="548640" y="3000248"/>
            <a:ext cx="11094415" cy="640080"/>
          </a:xfrm>
          <a:prstGeom prst="rect">
            <a:avLst/>
          </a:prstGeom>
          <a:noFill/>
          <a:ln/>
        </p:spPr>
        <p:txBody>
          <a:bodyPr wrap="square" lIns="0" tIns="0" rIns="0" bIns="0" rtlCol="0" anchor="ctr"/>
          <a:lstStyle/>
          <a:p>
            <a:pPr algn="ctr" indent="0" marL="0">
              <a:buNone/>
            </a:pPr>
            <a:r>
              <a:rPr lang="en-US" sz="2000" b="1" dirty="0">
                <a:solidFill>
                  <a:srgbClr val="0F172A"/>
                </a:solidFill>
                <a:latin typeface="Arial" pitchFamily="34" charset="0"/>
                <a:ea typeface="Arial" pitchFamily="34" charset="-122"/>
                <a:cs typeface="Arial" pitchFamily="34" charset="-120"/>
              </a:rPr>
              <a:t>We wait for a clear answer. Silence is not taken as a yes.</a:t>
            </a:r>
            <a:endParaRPr lang="en-US" sz="2000" dirty="0"/>
          </a:p>
        </p:txBody>
      </p:sp>
      <p:sp>
        <p:nvSpPr>
          <p:cNvPr id="15" name="Text 13"/>
          <p:cNvSpPr txBox="1"/>
          <p:nvPr/>
        </p:nvSpPr>
        <p:spPr>
          <a:xfrm>
            <a:off x="548640" y="3914648"/>
            <a:ext cx="11094415" cy="67056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You can take part and still say no to photos, to recordings, or to having your own name in a paper.</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INUIT QAUJIMAJATUQANGIT</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The IQ principles guide how we decide</a:t>
            </a:r>
            <a:endParaRPr lang="en-US" sz="3200" dirty="0"/>
          </a:p>
        </p:txBody>
      </p:sp>
      <p:sp>
        <p:nvSpPr>
          <p:cNvPr id="4" name="principle Aajiiqatigiingniq"/>
          <p:cNvSpPr/>
          <p:nvPr/>
        </p:nvSpPr>
        <p:spPr>
          <a:xfrm>
            <a:off x="548640" y="1445768"/>
            <a:ext cx="5410048" cy="1188720"/>
          </a:xfrm>
          <a:prstGeom prst="roundRect">
            <a:avLst>
              <a:gd name="adj" fmla="val 9231"/>
            </a:avLst>
          </a:prstGeom>
          <a:solidFill>
            <a:srgbClr val="EEF4F8"/>
          </a:solidFill>
          <a:ln w="12700">
            <a:solidFill>
              <a:srgbClr val="EEF4F8"/>
            </a:solidFill>
            <a:prstDash val="solid"/>
          </a:ln>
        </p:spPr>
      </p:sp>
      <p:sp>
        <p:nvSpPr>
          <p:cNvPr id="5" name="Text 3"/>
          <p:cNvSpPr txBox="1"/>
          <p:nvPr/>
        </p:nvSpPr>
        <p:spPr>
          <a:xfrm>
            <a:off x="749808" y="1582928"/>
            <a:ext cx="5007712" cy="365760"/>
          </a:xfrm>
          <a:prstGeom prst="rect">
            <a:avLst/>
          </a:prstGeom>
          <a:noFill/>
          <a:ln/>
        </p:spPr>
        <p:txBody>
          <a:bodyPr wrap="square" lIns="0" tIns="0" rIns="0" bIns="0" rtlCol="0" anchor="t"/>
          <a:lstStyle/>
          <a:p>
            <a:pPr indent="0" marL="0">
              <a:buNone/>
            </a:pPr>
            <a:r>
              <a:rPr lang="en-US" sz="1600" b="1" dirty="0">
                <a:solidFill>
                  <a:srgbClr val="B45309"/>
                </a:solidFill>
                <a:latin typeface="Euphemia" pitchFamily="34" charset="0"/>
                <a:ea typeface="Euphemia" pitchFamily="34" charset="-122"/>
                <a:cs typeface="Euphemia" pitchFamily="34" charset="-120"/>
              </a:rPr>
              <a:t>ᐋᔩᖃᑎᒌᖕᓂᖅ  </a:t>
            </a:r>
            <a:pPr indent="0" marL="0">
              <a:buNone/>
            </a:pPr>
            <a:r>
              <a:rPr lang="en-US" sz="1600" b="1" dirty="0">
                <a:solidFill>
                  <a:srgbClr val="0B2A3F"/>
                </a:solidFill>
                <a:latin typeface="Arial" pitchFamily="34" charset="0"/>
                <a:ea typeface="Arial" pitchFamily="34" charset="-122"/>
                <a:cs typeface="Arial" pitchFamily="34" charset="-120"/>
              </a:rPr>
              <a:t>Aajiiqatigiingniq</a:t>
            </a:r>
            <a:endParaRPr lang="en-US" sz="1600" dirty="0"/>
          </a:p>
        </p:txBody>
      </p:sp>
      <p:sp>
        <p:nvSpPr>
          <p:cNvPr id="6" name="Text 4"/>
          <p:cNvSpPr txBox="1"/>
          <p:nvPr/>
        </p:nvSpPr>
        <p:spPr>
          <a:xfrm>
            <a:off x="749808" y="2177288"/>
            <a:ext cx="5007712" cy="36576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decision making through discussion and consensus</a:t>
            </a:r>
            <a:endParaRPr lang="en-US" sz="1500" dirty="0"/>
          </a:p>
        </p:txBody>
      </p:sp>
      <p:sp>
        <p:nvSpPr>
          <p:cNvPr id="7" name="principle Piliriqatigiingniq"/>
          <p:cNvSpPr/>
          <p:nvPr/>
        </p:nvSpPr>
        <p:spPr>
          <a:xfrm>
            <a:off x="6233008" y="1445768"/>
            <a:ext cx="5410048" cy="1188720"/>
          </a:xfrm>
          <a:prstGeom prst="roundRect">
            <a:avLst>
              <a:gd name="adj" fmla="val 9231"/>
            </a:avLst>
          </a:prstGeom>
          <a:solidFill>
            <a:srgbClr val="EEF4F8"/>
          </a:solidFill>
          <a:ln w="12700">
            <a:solidFill>
              <a:srgbClr val="EEF4F8"/>
            </a:solidFill>
            <a:prstDash val="solid"/>
          </a:ln>
        </p:spPr>
      </p:sp>
      <p:sp>
        <p:nvSpPr>
          <p:cNvPr id="8" name="Text 6"/>
          <p:cNvSpPr txBox="1"/>
          <p:nvPr/>
        </p:nvSpPr>
        <p:spPr>
          <a:xfrm>
            <a:off x="6434176" y="1582928"/>
            <a:ext cx="5007712" cy="365760"/>
          </a:xfrm>
          <a:prstGeom prst="rect">
            <a:avLst/>
          </a:prstGeom>
          <a:noFill/>
          <a:ln/>
        </p:spPr>
        <p:txBody>
          <a:bodyPr wrap="square" lIns="0" tIns="0" rIns="0" bIns="0" rtlCol="0" anchor="t"/>
          <a:lstStyle/>
          <a:p>
            <a:pPr indent="0" marL="0">
              <a:buNone/>
            </a:pPr>
            <a:r>
              <a:rPr lang="en-US" sz="1600" b="1" dirty="0">
                <a:solidFill>
                  <a:srgbClr val="B45309"/>
                </a:solidFill>
                <a:latin typeface="Euphemia" pitchFamily="34" charset="0"/>
                <a:ea typeface="Euphemia" pitchFamily="34" charset="-122"/>
                <a:cs typeface="Euphemia" pitchFamily="34" charset="-120"/>
              </a:rPr>
              <a:t>ᐱᓕᕆᖃᑎᒌᖕᓂᖅ  </a:t>
            </a:r>
            <a:pPr indent="0" marL="0">
              <a:buNone/>
            </a:pPr>
            <a:r>
              <a:rPr lang="en-US" sz="1600" b="1" dirty="0">
                <a:solidFill>
                  <a:srgbClr val="0B2A3F"/>
                </a:solidFill>
                <a:latin typeface="Arial" pitchFamily="34" charset="0"/>
                <a:ea typeface="Arial" pitchFamily="34" charset="-122"/>
                <a:cs typeface="Arial" pitchFamily="34" charset="-120"/>
              </a:rPr>
              <a:t>Piliriqatigiingniq</a:t>
            </a:r>
            <a:endParaRPr lang="en-US" sz="1600" dirty="0"/>
          </a:p>
        </p:txBody>
      </p:sp>
      <p:sp>
        <p:nvSpPr>
          <p:cNvPr id="9" name="Text 7"/>
          <p:cNvSpPr txBox="1"/>
          <p:nvPr/>
        </p:nvSpPr>
        <p:spPr>
          <a:xfrm>
            <a:off x="6434176" y="2177288"/>
            <a:ext cx="5007712" cy="36576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working together for a common cause</a:t>
            </a:r>
            <a:endParaRPr lang="en-US" sz="1500" dirty="0"/>
          </a:p>
        </p:txBody>
      </p:sp>
      <p:sp>
        <p:nvSpPr>
          <p:cNvPr id="10" name="principle Pijitsirniq"/>
          <p:cNvSpPr/>
          <p:nvPr/>
        </p:nvSpPr>
        <p:spPr>
          <a:xfrm>
            <a:off x="548640" y="2817368"/>
            <a:ext cx="5410048" cy="1188720"/>
          </a:xfrm>
          <a:prstGeom prst="roundRect">
            <a:avLst>
              <a:gd name="adj" fmla="val 9231"/>
            </a:avLst>
          </a:prstGeom>
          <a:solidFill>
            <a:srgbClr val="EEF4F8"/>
          </a:solidFill>
          <a:ln w="12700">
            <a:solidFill>
              <a:srgbClr val="EEF4F8"/>
            </a:solidFill>
            <a:prstDash val="solid"/>
          </a:ln>
        </p:spPr>
      </p:sp>
      <p:sp>
        <p:nvSpPr>
          <p:cNvPr id="11" name="Text 9"/>
          <p:cNvSpPr txBox="1"/>
          <p:nvPr/>
        </p:nvSpPr>
        <p:spPr>
          <a:xfrm>
            <a:off x="749808" y="2954528"/>
            <a:ext cx="5007712" cy="365760"/>
          </a:xfrm>
          <a:prstGeom prst="rect">
            <a:avLst/>
          </a:prstGeom>
          <a:noFill/>
          <a:ln/>
        </p:spPr>
        <p:txBody>
          <a:bodyPr wrap="square" lIns="0" tIns="0" rIns="0" bIns="0" rtlCol="0" anchor="t"/>
          <a:lstStyle/>
          <a:p>
            <a:pPr indent="0" marL="0">
              <a:buNone/>
            </a:pPr>
            <a:r>
              <a:rPr lang="en-US" sz="1600" b="1" dirty="0">
                <a:solidFill>
                  <a:srgbClr val="B45309"/>
                </a:solidFill>
                <a:latin typeface="Euphemia" pitchFamily="34" charset="0"/>
                <a:ea typeface="Euphemia" pitchFamily="34" charset="-122"/>
                <a:cs typeface="Euphemia" pitchFamily="34" charset="-120"/>
              </a:rPr>
              <a:t>ᐱᔨᑦᓯᕐᓂᖅ  </a:t>
            </a:r>
            <a:pPr indent="0" marL="0">
              <a:buNone/>
            </a:pPr>
            <a:r>
              <a:rPr lang="en-US" sz="1600" b="1" dirty="0">
                <a:solidFill>
                  <a:srgbClr val="0B2A3F"/>
                </a:solidFill>
                <a:latin typeface="Arial" pitchFamily="34" charset="0"/>
                <a:ea typeface="Arial" pitchFamily="34" charset="-122"/>
                <a:cs typeface="Arial" pitchFamily="34" charset="-120"/>
              </a:rPr>
              <a:t>Pijitsirniq</a:t>
            </a:r>
            <a:endParaRPr lang="en-US" sz="1600" dirty="0"/>
          </a:p>
        </p:txBody>
      </p:sp>
      <p:sp>
        <p:nvSpPr>
          <p:cNvPr id="12" name="Text 10"/>
          <p:cNvSpPr txBox="1"/>
          <p:nvPr/>
        </p:nvSpPr>
        <p:spPr>
          <a:xfrm>
            <a:off x="749808" y="3548888"/>
            <a:ext cx="5007712" cy="36576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serving and providing for family or community, or both</a:t>
            </a:r>
            <a:endParaRPr lang="en-US" sz="1500" dirty="0"/>
          </a:p>
        </p:txBody>
      </p:sp>
      <p:sp>
        <p:nvSpPr>
          <p:cNvPr id="13" name="principle Avatiptinni Kamatsiarniq"/>
          <p:cNvSpPr/>
          <p:nvPr/>
        </p:nvSpPr>
        <p:spPr>
          <a:xfrm>
            <a:off x="6233008" y="2817368"/>
            <a:ext cx="5410048" cy="1188720"/>
          </a:xfrm>
          <a:prstGeom prst="roundRect">
            <a:avLst>
              <a:gd name="adj" fmla="val 9231"/>
            </a:avLst>
          </a:prstGeom>
          <a:solidFill>
            <a:srgbClr val="EEF4F8"/>
          </a:solidFill>
          <a:ln w="12700">
            <a:solidFill>
              <a:srgbClr val="EEF4F8"/>
            </a:solidFill>
            <a:prstDash val="solid"/>
          </a:ln>
        </p:spPr>
      </p:sp>
      <p:sp>
        <p:nvSpPr>
          <p:cNvPr id="14" name="Text 12"/>
          <p:cNvSpPr txBox="1"/>
          <p:nvPr/>
        </p:nvSpPr>
        <p:spPr>
          <a:xfrm>
            <a:off x="6434176" y="2954528"/>
            <a:ext cx="5007712" cy="365760"/>
          </a:xfrm>
          <a:prstGeom prst="rect">
            <a:avLst/>
          </a:prstGeom>
          <a:noFill/>
          <a:ln/>
        </p:spPr>
        <p:txBody>
          <a:bodyPr wrap="square" lIns="0" tIns="0" rIns="0" bIns="0" rtlCol="0" anchor="t"/>
          <a:lstStyle/>
          <a:p>
            <a:pPr indent="0" marL="0">
              <a:buNone/>
            </a:pPr>
            <a:r>
              <a:rPr lang="en-US" sz="1600" b="1" dirty="0">
                <a:solidFill>
                  <a:srgbClr val="B45309"/>
                </a:solidFill>
                <a:latin typeface="Euphemia" pitchFamily="34" charset="0"/>
                <a:ea typeface="Euphemia" pitchFamily="34" charset="-122"/>
                <a:cs typeface="Euphemia" pitchFamily="34" charset="-120"/>
              </a:rPr>
              <a:t>ᐊᕙᑎᑉᑎᓐᓂ ᑲᒪᑦᓯᐊᕐᓂᖅ  </a:t>
            </a:r>
            <a:pPr indent="0" marL="0">
              <a:buNone/>
            </a:pPr>
            <a:r>
              <a:rPr lang="en-US" sz="1600" b="1" dirty="0">
                <a:solidFill>
                  <a:srgbClr val="0B2A3F"/>
                </a:solidFill>
                <a:latin typeface="Arial" pitchFamily="34" charset="0"/>
                <a:ea typeface="Arial" pitchFamily="34" charset="-122"/>
                <a:cs typeface="Arial" pitchFamily="34" charset="-120"/>
              </a:rPr>
              <a:t>Avatiptinni Kamatsiarniq</a:t>
            </a:r>
            <a:endParaRPr lang="en-US" sz="1600" dirty="0"/>
          </a:p>
        </p:txBody>
      </p:sp>
      <p:sp>
        <p:nvSpPr>
          <p:cNvPr id="15" name="Text 13"/>
          <p:cNvSpPr txBox="1"/>
          <p:nvPr/>
        </p:nvSpPr>
        <p:spPr>
          <a:xfrm>
            <a:off x="6434176" y="3548888"/>
            <a:ext cx="5007712" cy="36576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respect and care for the land, animals and the environment</a:t>
            </a:r>
            <a:endParaRPr lang="en-US" sz="1500" dirty="0"/>
          </a:p>
        </p:txBody>
      </p:sp>
      <p:sp>
        <p:nvSpPr>
          <p:cNvPr id="16" name="principle Pilimmaksarniq"/>
          <p:cNvSpPr/>
          <p:nvPr/>
        </p:nvSpPr>
        <p:spPr>
          <a:xfrm>
            <a:off x="548640" y="4188968"/>
            <a:ext cx="5410048" cy="1188720"/>
          </a:xfrm>
          <a:prstGeom prst="roundRect">
            <a:avLst>
              <a:gd name="adj" fmla="val 9231"/>
            </a:avLst>
          </a:prstGeom>
          <a:solidFill>
            <a:srgbClr val="EEF4F8"/>
          </a:solidFill>
          <a:ln w="12700">
            <a:solidFill>
              <a:srgbClr val="EEF4F8"/>
            </a:solidFill>
            <a:prstDash val="solid"/>
          </a:ln>
        </p:spPr>
      </p:sp>
      <p:sp>
        <p:nvSpPr>
          <p:cNvPr id="17" name="Text 15"/>
          <p:cNvSpPr txBox="1"/>
          <p:nvPr/>
        </p:nvSpPr>
        <p:spPr>
          <a:xfrm>
            <a:off x="749808" y="4326128"/>
            <a:ext cx="5007712" cy="365760"/>
          </a:xfrm>
          <a:prstGeom prst="rect">
            <a:avLst/>
          </a:prstGeom>
          <a:noFill/>
          <a:ln/>
        </p:spPr>
        <p:txBody>
          <a:bodyPr wrap="square" lIns="0" tIns="0" rIns="0" bIns="0" rtlCol="0" anchor="t"/>
          <a:lstStyle/>
          <a:p>
            <a:pPr indent="0" marL="0">
              <a:buNone/>
            </a:pPr>
            <a:r>
              <a:rPr lang="en-US" sz="1600" b="1" dirty="0">
                <a:solidFill>
                  <a:srgbClr val="B45309"/>
                </a:solidFill>
                <a:latin typeface="Euphemia" pitchFamily="34" charset="0"/>
                <a:ea typeface="Euphemia" pitchFamily="34" charset="-122"/>
                <a:cs typeface="Euphemia" pitchFamily="34" charset="-120"/>
              </a:rPr>
              <a:t>ᐱᓕᒻᒪᒃᓴᕐᓂᖅ  </a:t>
            </a:r>
            <a:pPr indent="0" marL="0">
              <a:buNone/>
            </a:pPr>
            <a:r>
              <a:rPr lang="en-US" sz="1600" b="1" dirty="0">
                <a:solidFill>
                  <a:srgbClr val="0B2A3F"/>
                </a:solidFill>
                <a:latin typeface="Arial" pitchFamily="34" charset="0"/>
                <a:ea typeface="Arial" pitchFamily="34" charset="-122"/>
                <a:cs typeface="Arial" pitchFamily="34" charset="-120"/>
              </a:rPr>
              <a:t>Pilimmaksarniq</a:t>
            </a:r>
            <a:endParaRPr lang="en-US" sz="1600" dirty="0"/>
          </a:p>
        </p:txBody>
      </p:sp>
      <p:sp>
        <p:nvSpPr>
          <p:cNvPr id="18" name="Text 16"/>
          <p:cNvSpPr txBox="1"/>
          <p:nvPr/>
        </p:nvSpPr>
        <p:spPr>
          <a:xfrm>
            <a:off x="749808" y="4920488"/>
            <a:ext cx="5007712" cy="36576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development of skills through practice, effort and action</a:t>
            </a:r>
            <a:endParaRPr lang="en-US" sz="1500" dirty="0"/>
          </a:p>
        </p:txBody>
      </p:sp>
      <p:sp>
        <p:nvSpPr>
          <p:cNvPr id="19" name="principle Qanuqtuurniq"/>
          <p:cNvSpPr/>
          <p:nvPr/>
        </p:nvSpPr>
        <p:spPr>
          <a:xfrm>
            <a:off x="6233008" y="4188968"/>
            <a:ext cx="5410048" cy="1188720"/>
          </a:xfrm>
          <a:prstGeom prst="roundRect">
            <a:avLst>
              <a:gd name="adj" fmla="val 9231"/>
            </a:avLst>
          </a:prstGeom>
          <a:solidFill>
            <a:srgbClr val="EEF4F8"/>
          </a:solidFill>
          <a:ln w="12700">
            <a:solidFill>
              <a:srgbClr val="EEF4F8"/>
            </a:solidFill>
            <a:prstDash val="solid"/>
          </a:ln>
        </p:spPr>
      </p:sp>
      <p:sp>
        <p:nvSpPr>
          <p:cNvPr id="20" name="Text 18"/>
          <p:cNvSpPr txBox="1"/>
          <p:nvPr/>
        </p:nvSpPr>
        <p:spPr>
          <a:xfrm>
            <a:off x="6434176" y="4326128"/>
            <a:ext cx="5007712" cy="365760"/>
          </a:xfrm>
          <a:prstGeom prst="rect">
            <a:avLst/>
          </a:prstGeom>
          <a:noFill/>
          <a:ln/>
        </p:spPr>
        <p:txBody>
          <a:bodyPr wrap="square" lIns="0" tIns="0" rIns="0" bIns="0" rtlCol="0" anchor="t"/>
          <a:lstStyle/>
          <a:p>
            <a:pPr indent="0" marL="0">
              <a:buNone/>
            </a:pPr>
            <a:r>
              <a:rPr lang="en-US" sz="1600" b="1" dirty="0">
                <a:solidFill>
                  <a:srgbClr val="B45309"/>
                </a:solidFill>
                <a:latin typeface="Euphemia" pitchFamily="34" charset="0"/>
                <a:ea typeface="Euphemia" pitchFamily="34" charset="-122"/>
                <a:cs typeface="Euphemia" pitchFamily="34" charset="-120"/>
              </a:rPr>
              <a:t>ᖃᓄᖅᑑᕐᓂᖅ  </a:t>
            </a:r>
            <a:pPr indent="0" marL="0">
              <a:buNone/>
            </a:pPr>
            <a:r>
              <a:rPr lang="en-US" sz="1600" b="1" dirty="0">
                <a:solidFill>
                  <a:srgbClr val="0B2A3F"/>
                </a:solidFill>
                <a:latin typeface="Arial" pitchFamily="34" charset="0"/>
                <a:ea typeface="Arial" pitchFamily="34" charset="-122"/>
                <a:cs typeface="Arial" pitchFamily="34" charset="-120"/>
              </a:rPr>
              <a:t>Qanuqtuurniq</a:t>
            </a:r>
            <a:endParaRPr lang="en-US" sz="1600" dirty="0"/>
          </a:p>
        </p:txBody>
      </p:sp>
      <p:sp>
        <p:nvSpPr>
          <p:cNvPr id="21" name="Text 19"/>
          <p:cNvSpPr txBox="1"/>
          <p:nvPr/>
        </p:nvSpPr>
        <p:spPr>
          <a:xfrm>
            <a:off x="6434176" y="4920488"/>
            <a:ext cx="5007712" cy="36576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being innovative and resourceful</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WHAT THE LAW SAYS</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The law and microbe DNA</a:t>
            </a:r>
            <a:endParaRPr lang="en-US" sz="3200" dirty="0"/>
          </a:p>
        </p:txBody>
      </p:sp>
      <p:sp>
        <p:nvSpPr>
          <p:cNvPr id="4" name="box What the laws cover"/>
          <p:cNvSpPr/>
          <p:nvPr/>
        </p:nvSpPr>
        <p:spPr>
          <a:xfrm>
            <a:off x="548640" y="1445768"/>
            <a:ext cx="5410048" cy="2590800"/>
          </a:xfrm>
          <a:prstGeom prst="roundRect">
            <a:avLst>
              <a:gd name="adj" fmla="val 4235"/>
            </a:avLst>
          </a:prstGeom>
          <a:solidFill>
            <a:srgbClr val="EEF4F8"/>
          </a:solidFill>
          <a:ln w="12700">
            <a:solidFill>
              <a:srgbClr val="EEF4F8"/>
            </a:solidFill>
            <a:prstDash val="solid"/>
          </a:ln>
        </p:spPr>
      </p:sp>
      <p:sp>
        <p:nvSpPr>
          <p:cNvPr id="5" name="Text 3"/>
          <p:cNvSpPr txBox="1"/>
          <p:nvPr/>
        </p:nvSpPr>
        <p:spPr>
          <a:xfrm>
            <a:off x="749808" y="1646936"/>
            <a:ext cx="5007712" cy="2188464"/>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B2A3F"/>
                </a:solidFill>
                <a:latin typeface="Arial" pitchFamily="34" charset="0"/>
                <a:ea typeface="Arial" pitchFamily="34" charset="-122"/>
                <a:cs typeface="Arial" pitchFamily="34" charset="-120"/>
              </a:rPr>
              <a:t>What the laws cover</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Canada has not joined the international treaty on sharing benefits from genetic resources (the Nagoya Protocol).</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The Nunavut Agreement does not cover DNA.</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No law says who owns microbe DNA.</a:t>
            </a:r>
            <a:endParaRPr lang="en-US" sz="2000" dirty="0"/>
          </a:p>
        </p:txBody>
      </p:sp>
      <p:sp>
        <p:nvSpPr>
          <p:cNvPr id="6" name="box What research rules say"/>
          <p:cNvSpPr/>
          <p:nvPr/>
        </p:nvSpPr>
        <p:spPr>
          <a:xfrm>
            <a:off x="6233008" y="1445768"/>
            <a:ext cx="5410048" cy="2590800"/>
          </a:xfrm>
          <a:prstGeom prst="roundRect">
            <a:avLst>
              <a:gd name="adj" fmla="val 4235"/>
            </a:avLst>
          </a:prstGeom>
          <a:solidFill>
            <a:srgbClr val="E7F5EF"/>
          </a:solidFill>
          <a:ln w="12700">
            <a:solidFill>
              <a:srgbClr val="E7F5EF"/>
            </a:solidFill>
            <a:prstDash val="solid"/>
          </a:ln>
        </p:spPr>
      </p:sp>
      <p:sp>
        <p:nvSpPr>
          <p:cNvPr id="7" name="Text 5"/>
          <p:cNvSpPr txBox="1"/>
          <p:nvPr/>
        </p:nvSpPr>
        <p:spPr>
          <a:xfrm>
            <a:off x="6434176" y="1646936"/>
            <a:ext cx="5007712" cy="2188464"/>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47857"/>
                </a:solidFill>
                <a:latin typeface="Arial" pitchFamily="34" charset="0"/>
                <a:ea typeface="Arial" pitchFamily="34" charset="-122"/>
                <a:cs typeface="Arial" pitchFamily="34" charset="-120"/>
              </a:rPr>
              <a:t>What research rules say</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Research with Inuit communities should benefit the community.</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Ownership and use of data should be set out in a written agreement.</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Our agreement with the HTO will do this.</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ALREADY IN PLACE</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What our research licence requires</a:t>
            </a:r>
            <a:endParaRPr lang="en-US" sz="3200" dirty="0"/>
          </a:p>
        </p:txBody>
      </p:sp>
      <p:sp>
        <p:nvSpPr>
          <p:cNvPr id="4" name="Text 2"/>
          <p:cNvSpPr txBox="1"/>
          <p:nvPr/>
        </p:nvSpPr>
        <p:spPr>
          <a:xfrm>
            <a:off x="548640" y="1445768"/>
            <a:ext cx="11094415" cy="67056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This project has a licence from the Nunavut Research Institute and approval from the university's ethics board. Under these approvals:</a:t>
            </a:r>
            <a:endParaRPr lang="en-US" sz="2200" dirty="0"/>
          </a:p>
        </p:txBody>
      </p:sp>
      <p:sp>
        <p:nvSpPr>
          <p:cNvPr id="5" name="box Every year"/>
          <p:cNvSpPr/>
          <p:nvPr/>
        </p:nvSpPr>
        <p:spPr>
          <a:xfrm>
            <a:off x="548640" y="2299208"/>
            <a:ext cx="5410048" cy="2590800"/>
          </a:xfrm>
          <a:prstGeom prst="roundRect">
            <a:avLst>
              <a:gd name="adj" fmla="val 4235"/>
            </a:avLst>
          </a:prstGeom>
          <a:solidFill>
            <a:srgbClr val="EEF4F8"/>
          </a:solidFill>
          <a:ln w="12700">
            <a:solidFill>
              <a:srgbClr val="EEF4F8"/>
            </a:solidFill>
            <a:prstDash val="solid"/>
          </a:ln>
        </p:spPr>
      </p:sp>
      <p:sp>
        <p:nvSpPr>
          <p:cNvPr id="6" name="Text 4"/>
          <p:cNvSpPr txBox="1"/>
          <p:nvPr/>
        </p:nvSpPr>
        <p:spPr>
          <a:xfrm>
            <a:off x="749808" y="2500376"/>
            <a:ext cx="5007712" cy="2188464"/>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B2A3F"/>
                </a:solidFill>
                <a:latin typeface="Arial" pitchFamily="34" charset="0"/>
                <a:ea typeface="Arial" pitchFamily="34" charset="-122"/>
                <a:cs typeface="Arial" pitchFamily="34" charset="-120"/>
              </a:rPr>
              <a:t>Every year</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We send a report, in Inuktitut and English.</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We send copies of everything we publish.</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We come back and share the results here.</a:t>
            </a:r>
            <a:endParaRPr lang="en-US" sz="2000" dirty="0"/>
          </a:p>
        </p:txBody>
      </p:sp>
      <p:sp>
        <p:nvSpPr>
          <p:cNvPr id="7" name="box Before anything new"/>
          <p:cNvSpPr/>
          <p:nvPr/>
        </p:nvSpPr>
        <p:spPr>
          <a:xfrm>
            <a:off x="6233008" y="2299208"/>
            <a:ext cx="5410048" cy="2590800"/>
          </a:xfrm>
          <a:prstGeom prst="roundRect">
            <a:avLst>
              <a:gd name="adj" fmla="val 4235"/>
            </a:avLst>
          </a:prstGeom>
          <a:solidFill>
            <a:srgbClr val="EEF4F8"/>
          </a:solidFill>
          <a:ln w="12700">
            <a:solidFill>
              <a:srgbClr val="EEF4F8"/>
            </a:solidFill>
            <a:prstDash val="solid"/>
          </a:ln>
        </p:spPr>
      </p:sp>
      <p:sp>
        <p:nvSpPr>
          <p:cNvPr id="8" name="Text 6"/>
          <p:cNvSpPr txBox="1"/>
          <p:nvPr/>
        </p:nvSpPr>
        <p:spPr>
          <a:xfrm>
            <a:off x="6434176" y="2500376"/>
            <a:ext cx="5007712" cy="2188464"/>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B2A3F"/>
                </a:solidFill>
                <a:latin typeface="Arial" pitchFamily="34" charset="0"/>
                <a:ea typeface="Arial" pitchFamily="34" charset="-122"/>
                <a:cs typeface="Arial" pitchFamily="34" charset="-120"/>
              </a:rPr>
              <a:t>Before anything new</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The samples are not used for anything new without permission.</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The samples are not shared outside the project.</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MAKING A NAME OFFICIAL</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An official name comes with a public genome</a:t>
            </a:r>
            <a:endParaRPr lang="en-US" sz="3200" dirty="0"/>
          </a:p>
        </p:txBody>
      </p:sp>
      <p:sp>
        <p:nvSpPr>
          <p:cNvPr id="4" name="Text 2"/>
          <p:cNvSpPr txBox="1"/>
          <p:nvPr/>
        </p:nvSpPr>
        <p:spPr>
          <a:xfrm>
            <a:off x="548640" y="1445768"/>
            <a:ext cx="11094415" cy="67056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The rules for naming microbes (the SeqCode) accept a name once that microbe's genome is shared in the world's public DNA library.</a:t>
            </a:r>
            <a:endParaRPr lang="en-US" sz="2200" dirty="0"/>
          </a:p>
        </p:txBody>
      </p:sp>
      <p:sp>
        <p:nvSpPr>
          <p:cNvPr id="5" name="box Open to all"/>
          <p:cNvSpPr/>
          <p:nvPr/>
        </p:nvSpPr>
        <p:spPr>
          <a:xfrm>
            <a:off x="548640" y="2299208"/>
            <a:ext cx="3515258" cy="1310640"/>
          </a:xfrm>
          <a:prstGeom prst="roundRect">
            <a:avLst>
              <a:gd name="adj" fmla="val 8372"/>
            </a:avLst>
          </a:prstGeom>
          <a:solidFill>
            <a:srgbClr val="EEF4F8"/>
          </a:solidFill>
          <a:ln w="12700">
            <a:solidFill>
              <a:srgbClr val="EEF4F8"/>
            </a:solidFill>
            <a:prstDash val="solid"/>
          </a:ln>
        </p:spPr>
      </p:sp>
      <p:sp>
        <p:nvSpPr>
          <p:cNvPr id="6" name="Text 4"/>
          <p:cNvSpPr txBox="1"/>
          <p:nvPr/>
        </p:nvSpPr>
        <p:spPr>
          <a:xfrm>
            <a:off x="749808" y="2500376"/>
            <a:ext cx="3112922" cy="908304"/>
          </a:xfrm>
          <a:prstGeom prst="rect">
            <a:avLst/>
          </a:prstGeom>
          <a:noFill/>
          <a:ln/>
        </p:spPr>
        <p:txBody>
          <a:bodyPr wrap="square" lIns="0" tIns="0" rIns="0" bIns="0" rtlCol="0" anchor="t">
            <a:normAutofit/>
          </a:bodyPr>
          <a:lstStyle/>
          <a:p>
            <a:pPr indent="0" marL="0">
              <a:spcAft>
                <a:spcPts val="600"/>
              </a:spcAft>
              <a:buNone/>
            </a:pPr>
            <a:r>
              <a:rPr lang="en-US" sz="1800" b="1" dirty="0">
                <a:solidFill>
                  <a:srgbClr val="0B2A3F"/>
                </a:solidFill>
                <a:latin typeface="Arial" pitchFamily="34" charset="0"/>
                <a:ea typeface="Arial" pitchFamily="34" charset="-122"/>
                <a:cs typeface="Arial" pitchFamily="34" charset="-120"/>
              </a:rPr>
              <a:t>Open to all</a:t>
            </a:r>
            <a:endParaRPr lang="en-US" sz="1800" dirty="0"/>
          </a:p>
          <a:p>
            <a:pPr indent="0" marL="0">
              <a:spcAft>
                <a:spcPts val="600"/>
              </a:spcAft>
              <a:buNone/>
            </a:pPr>
            <a:r>
              <a:rPr lang="en-US" sz="1600" dirty="0">
                <a:solidFill>
                  <a:srgbClr val="0F172A"/>
                </a:solidFill>
                <a:latin typeface="Arial" pitchFamily="34" charset="0"/>
                <a:ea typeface="Arial" pitchFamily="34" charset="-122"/>
                <a:cs typeface="Arial" pitchFamily="34" charset="-120"/>
              </a:rPr>
              <a:t>Scientists anywhere can look at it.</a:t>
            </a:r>
            <a:endParaRPr lang="en-US" sz="1800" dirty="0"/>
          </a:p>
        </p:txBody>
      </p:sp>
      <p:sp>
        <p:nvSpPr>
          <p:cNvPr id="7" name="box Free to use"/>
          <p:cNvSpPr/>
          <p:nvPr/>
        </p:nvSpPr>
        <p:spPr>
          <a:xfrm>
            <a:off x="4338218" y="2299208"/>
            <a:ext cx="3515258" cy="1310640"/>
          </a:xfrm>
          <a:prstGeom prst="roundRect">
            <a:avLst>
              <a:gd name="adj" fmla="val 8372"/>
            </a:avLst>
          </a:prstGeom>
          <a:solidFill>
            <a:srgbClr val="EEF4F8"/>
          </a:solidFill>
          <a:ln w="12700">
            <a:solidFill>
              <a:srgbClr val="EEF4F8"/>
            </a:solidFill>
            <a:prstDash val="solid"/>
          </a:ln>
        </p:spPr>
      </p:sp>
      <p:sp>
        <p:nvSpPr>
          <p:cNvPr id="8" name="Text 6"/>
          <p:cNvSpPr txBox="1"/>
          <p:nvPr/>
        </p:nvSpPr>
        <p:spPr>
          <a:xfrm>
            <a:off x="4539386" y="2500376"/>
            <a:ext cx="3112922" cy="908304"/>
          </a:xfrm>
          <a:prstGeom prst="rect">
            <a:avLst/>
          </a:prstGeom>
          <a:noFill/>
          <a:ln/>
        </p:spPr>
        <p:txBody>
          <a:bodyPr wrap="square" lIns="0" tIns="0" rIns="0" bIns="0" rtlCol="0" anchor="t">
            <a:normAutofit/>
          </a:bodyPr>
          <a:lstStyle/>
          <a:p>
            <a:pPr indent="0" marL="0">
              <a:spcAft>
                <a:spcPts val="600"/>
              </a:spcAft>
              <a:buNone/>
            </a:pPr>
            <a:r>
              <a:rPr lang="en-US" sz="1800" b="1" dirty="0">
                <a:solidFill>
                  <a:srgbClr val="0B2A3F"/>
                </a:solidFill>
                <a:latin typeface="Arial" pitchFamily="34" charset="0"/>
                <a:ea typeface="Arial" pitchFamily="34" charset="-122"/>
                <a:cs typeface="Arial" pitchFamily="34" charset="-120"/>
              </a:rPr>
              <a:t>Free to use</a:t>
            </a:r>
            <a:endParaRPr lang="en-US" sz="1800" dirty="0"/>
          </a:p>
          <a:p>
            <a:pPr indent="0" marL="0">
              <a:spcAft>
                <a:spcPts val="600"/>
              </a:spcAft>
              <a:buNone/>
            </a:pPr>
            <a:r>
              <a:rPr lang="en-US" sz="1600" dirty="0">
                <a:solidFill>
                  <a:srgbClr val="0F172A"/>
                </a:solidFill>
                <a:latin typeface="Arial" pitchFamily="34" charset="0"/>
                <a:ea typeface="Arial" pitchFamily="34" charset="-122"/>
                <a:cs typeface="Arial" pitchFamily="34" charset="-120"/>
              </a:rPr>
              <a:t>The library does not set rules on how it is used.</a:t>
            </a:r>
            <a:endParaRPr lang="en-US" sz="1800" dirty="0"/>
          </a:p>
        </p:txBody>
      </p:sp>
      <p:sp>
        <p:nvSpPr>
          <p:cNvPr id="9" name="box Permanent"/>
          <p:cNvSpPr/>
          <p:nvPr/>
        </p:nvSpPr>
        <p:spPr>
          <a:xfrm>
            <a:off x="8127797" y="2299208"/>
            <a:ext cx="3515258" cy="1310640"/>
          </a:xfrm>
          <a:prstGeom prst="roundRect">
            <a:avLst>
              <a:gd name="adj" fmla="val 8372"/>
            </a:avLst>
          </a:prstGeom>
          <a:solidFill>
            <a:srgbClr val="EEF4F8"/>
          </a:solidFill>
          <a:ln w="12700">
            <a:solidFill>
              <a:srgbClr val="EEF4F8"/>
            </a:solidFill>
            <a:prstDash val="solid"/>
          </a:ln>
        </p:spPr>
      </p:sp>
      <p:sp>
        <p:nvSpPr>
          <p:cNvPr id="10" name="Text 8"/>
          <p:cNvSpPr txBox="1"/>
          <p:nvPr/>
        </p:nvSpPr>
        <p:spPr>
          <a:xfrm>
            <a:off x="8328965" y="2500376"/>
            <a:ext cx="3112922" cy="908304"/>
          </a:xfrm>
          <a:prstGeom prst="rect">
            <a:avLst/>
          </a:prstGeom>
          <a:noFill/>
          <a:ln/>
        </p:spPr>
        <p:txBody>
          <a:bodyPr wrap="square" lIns="0" tIns="0" rIns="0" bIns="0" rtlCol="0" anchor="t">
            <a:normAutofit/>
          </a:bodyPr>
          <a:lstStyle/>
          <a:p>
            <a:pPr indent="0" marL="0">
              <a:spcAft>
                <a:spcPts val="600"/>
              </a:spcAft>
              <a:buNone/>
            </a:pPr>
            <a:r>
              <a:rPr lang="en-US" sz="1800" b="1" dirty="0">
                <a:solidFill>
                  <a:srgbClr val="0B2A3F"/>
                </a:solidFill>
                <a:latin typeface="Arial" pitchFamily="34" charset="0"/>
                <a:ea typeface="Arial" pitchFamily="34" charset="-122"/>
                <a:cs typeface="Arial" pitchFamily="34" charset="-120"/>
              </a:rPr>
              <a:t>Permanent</a:t>
            </a:r>
            <a:endParaRPr lang="en-US" sz="1800" dirty="0"/>
          </a:p>
          <a:p>
            <a:pPr indent="0" marL="0">
              <a:spcAft>
                <a:spcPts val="600"/>
              </a:spcAft>
              <a:buNone/>
            </a:pPr>
            <a:r>
              <a:rPr lang="en-US" sz="1600" dirty="0">
                <a:solidFill>
                  <a:srgbClr val="0F172A"/>
                </a:solidFill>
                <a:latin typeface="Arial" pitchFamily="34" charset="0"/>
                <a:ea typeface="Arial" pitchFamily="34" charset="-122"/>
                <a:cs typeface="Arial" pitchFamily="34" charset="-120"/>
              </a:rPr>
              <a:t>It stays there for good.</a:t>
            </a:r>
            <a:endParaRPr lang="en-US" sz="1800" dirty="0"/>
          </a:p>
        </p:txBody>
      </p:sp>
      <p:sp>
        <p:nvSpPr>
          <p:cNvPr id="11" name="Text 9"/>
          <p:cNvSpPr txBox="1"/>
          <p:nvPr/>
        </p:nvSpPr>
        <p:spPr>
          <a:xfrm>
            <a:off x="548640" y="3884168"/>
            <a:ext cx="11094415" cy="33528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For this reason, the community decides on each genome before it is shared.</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SHARING STEP BY STEP</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Deciding what is shared</a:t>
            </a:r>
            <a:endParaRPr lang="en-US" sz="3200" dirty="0"/>
          </a:p>
        </p:txBody>
      </p:sp>
      <p:sp>
        <p:nvSpPr>
          <p:cNvPr id="4" name="box Stays with us"/>
          <p:cNvSpPr/>
          <p:nvPr/>
        </p:nvSpPr>
        <p:spPr>
          <a:xfrm>
            <a:off x="548640" y="1445768"/>
            <a:ext cx="3901288" cy="2377440"/>
          </a:xfrm>
          <a:prstGeom prst="roundRect">
            <a:avLst>
              <a:gd name="adj" fmla="val 4615"/>
            </a:avLst>
          </a:prstGeom>
          <a:solidFill>
            <a:srgbClr val="E7F5EF"/>
          </a:solidFill>
          <a:ln w="12700">
            <a:solidFill>
              <a:srgbClr val="E7F5EF"/>
            </a:solidFill>
            <a:prstDash val="solid"/>
          </a:ln>
        </p:spPr>
      </p:sp>
      <p:sp>
        <p:nvSpPr>
          <p:cNvPr id="5" name="Text 3"/>
          <p:cNvSpPr txBox="1"/>
          <p:nvPr/>
        </p:nvSpPr>
        <p:spPr>
          <a:xfrm>
            <a:off x="749808" y="1646936"/>
            <a:ext cx="3498952" cy="1975104"/>
          </a:xfrm>
          <a:prstGeom prst="rect">
            <a:avLst/>
          </a:prstGeom>
          <a:noFill/>
          <a:ln/>
        </p:spPr>
        <p:txBody>
          <a:bodyPr wrap="square" lIns="0" tIns="0" rIns="0" bIns="0" rtlCol="0" anchor="t">
            <a:normAutofit/>
          </a:bodyPr>
          <a:lstStyle/>
          <a:p>
            <a:pPr indent="0" marL="0">
              <a:spcAft>
                <a:spcPts val="600"/>
              </a:spcAft>
              <a:buNone/>
            </a:pPr>
            <a:r>
              <a:rPr lang="en-US" sz="1800" b="1" dirty="0">
                <a:solidFill>
                  <a:srgbClr val="047857"/>
                </a:solidFill>
                <a:latin typeface="Arial" pitchFamily="34" charset="0"/>
                <a:ea typeface="Arial" pitchFamily="34" charset="-122"/>
                <a:cs typeface="Arial" pitchFamily="34" charset="-120"/>
              </a:rPr>
              <a:t>Stays with us</a:t>
            </a:r>
            <a:endParaRPr lang="en-US" sz="1800" dirty="0"/>
          </a:p>
          <a:p>
            <a:pPr marL="190500" indent="-190500">
              <a:spcAft>
                <a:spcPts val="400"/>
              </a:spcAft>
              <a:buSzPct val="100000"/>
              <a:buChar char="•"/>
            </a:pPr>
            <a:r>
              <a:rPr lang="en-US" sz="1600" dirty="0">
                <a:solidFill>
                  <a:srgbClr val="0F172A"/>
                </a:solidFill>
                <a:latin typeface="Arial" pitchFamily="34" charset="0"/>
                <a:ea typeface="Arial" pitchFamily="34" charset="-122"/>
                <a:cs typeface="Arial" pitchFamily="34" charset="-120"/>
              </a:rPr>
              <a:t>Water samples and DNA</a:t>
            </a:r>
            <a:endParaRPr lang="en-US" sz="1800" dirty="0"/>
          </a:p>
          <a:p>
            <a:pPr marL="190500" indent="-190500">
              <a:spcAft>
                <a:spcPts val="400"/>
              </a:spcAft>
              <a:buSzPct val="100000"/>
              <a:buChar char="•"/>
            </a:pPr>
            <a:r>
              <a:rPr lang="en-US" sz="1600" dirty="0">
                <a:solidFill>
                  <a:srgbClr val="0F172A"/>
                </a:solidFill>
                <a:latin typeface="Arial" pitchFamily="34" charset="0"/>
                <a:ea typeface="Arial" pitchFamily="34" charset="-122"/>
                <a:cs typeface="Arial" pitchFamily="34" charset="-120"/>
              </a:rPr>
              <a:t>Genomes we are not naming</a:t>
            </a:r>
            <a:endParaRPr lang="en-US" sz="1800" dirty="0"/>
          </a:p>
          <a:p>
            <a:pPr marL="190500" indent="-190500">
              <a:spcAft>
                <a:spcPts val="400"/>
              </a:spcAft>
              <a:buSzPct val="100000"/>
              <a:buChar char="•"/>
            </a:pPr>
            <a:r>
              <a:rPr lang="en-US" sz="1600" dirty="0">
                <a:solidFill>
                  <a:srgbClr val="0F172A"/>
                </a:solidFill>
                <a:latin typeface="Arial" pitchFamily="34" charset="0"/>
                <a:ea typeface="Arial" pitchFamily="34" charset="-122"/>
                <a:cs typeface="Arial" pitchFamily="34" charset="-120"/>
              </a:rPr>
              <a:t>Exact sampling spots</a:t>
            </a:r>
            <a:endParaRPr lang="en-US" sz="1800" dirty="0"/>
          </a:p>
          <a:p>
            <a:pPr marL="190500" indent="-190500">
              <a:spcAft>
                <a:spcPts val="400"/>
              </a:spcAft>
              <a:buSzPct val="100000"/>
              <a:buChar char="•"/>
            </a:pPr>
            <a:r>
              <a:rPr lang="en-US" sz="1600" dirty="0">
                <a:solidFill>
                  <a:srgbClr val="0F172A"/>
                </a:solidFill>
                <a:latin typeface="Arial" pitchFamily="34" charset="0"/>
                <a:ea typeface="Arial" pitchFamily="34" charset="-122"/>
                <a:cs typeface="Arial" pitchFamily="34" charset="-120"/>
              </a:rPr>
              <a:t>The stories behind the names</a:t>
            </a:r>
            <a:endParaRPr lang="en-US" sz="1800" dirty="0"/>
          </a:p>
        </p:txBody>
      </p:sp>
      <p:sp>
        <p:nvSpPr>
          <p:cNvPr id="6" name="community review"/>
          <p:cNvSpPr/>
          <p:nvPr/>
        </p:nvSpPr>
        <p:spPr>
          <a:xfrm>
            <a:off x="4724248" y="1445768"/>
            <a:ext cx="2743200" cy="2377440"/>
          </a:xfrm>
          <a:prstGeom prst="roundRect">
            <a:avLst>
              <a:gd name="adj" fmla="val 4615"/>
            </a:avLst>
          </a:prstGeom>
          <a:solidFill>
            <a:srgbClr val="FEF3C7"/>
          </a:solidFill>
          <a:ln w="19050">
            <a:solidFill>
              <a:srgbClr val="F59E0B"/>
            </a:solidFill>
            <a:prstDash val="solid"/>
          </a:ln>
        </p:spPr>
      </p:sp>
      <p:sp>
        <p:nvSpPr>
          <p:cNvPr id="7" name="Text 5"/>
          <p:cNvSpPr txBox="1"/>
          <p:nvPr/>
        </p:nvSpPr>
        <p:spPr>
          <a:xfrm>
            <a:off x="4724248" y="1674368"/>
            <a:ext cx="2743200" cy="548640"/>
          </a:xfrm>
          <a:prstGeom prst="rect">
            <a:avLst/>
          </a:prstGeom>
          <a:noFill/>
          <a:ln/>
        </p:spPr>
        <p:txBody>
          <a:bodyPr wrap="square" lIns="0" tIns="0" rIns="0" bIns="0" rtlCol="0" anchor="t"/>
          <a:lstStyle/>
          <a:p>
            <a:pPr algn="ctr" indent="0" marL="0">
              <a:buNone/>
            </a:pPr>
            <a:r>
              <a:rPr lang="en-US" sz="3000" dirty="0">
                <a:solidFill>
                  <a:srgbClr val="0F172A"/>
                </a:solidFill>
                <a:latin typeface="Arial" pitchFamily="34" charset="0"/>
                <a:ea typeface="Arial" pitchFamily="34" charset="-122"/>
                <a:cs typeface="Arial" pitchFamily="34" charset="-120"/>
              </a:rPr>
              <a:t>🤝</a:t>
            </a:r>
            <a:endParaRPr lang="en-US" sz="3000" dirty="0"/>
          </a:p>
        </p:txBody>
      </p:sp>
      <p:sp>
        <p:nvSpPr>
          <p:cNvPr id="8" name="Text 6"/>
          <p:cNvSpPr txBox="1"/>
          <p:nvPr/>
        </p:nvSpPr>
        <p:spPr>
          <a:xfrm>
            <a:off x="4861408" y="2268728"/>
            <a:ext cx="2468880" cy="365760"/>
          </a:xfrm>
          <a:prstGeom prst="rect">
            <a:avLst/>
          </a:prstGeom>
          <a:noFill/>
          <a:ln/>
        </p:spPr>
        <p:txBody>
          <a:bodyPr wrap="square" lIns="0" tIns="0" rIns="0" bIns="0" rtlCol="0" anchor="t"/>
          <a:lstStyle/>
          <a:p>
            <a:pPr algn="ctr" indent="0" marL="0">
              <a:buNone/>
            </a:pPr>
            <a:r>
              <a:rPr lang="en-US" sz="1800" b="1" dirty="0">
                <a:solidFill>
                  <a:srgbClr val="B45309"/>
                </a:solidFill>
                <a:latin typeface="Arial" pitchFamily="34" charset="0"/>
                <a:ea typeface="Arial" pitchFamily="34" charset="-122"/>
                <a:cs typeface="Arial" pitchFamily="34" charset="-120"/>
              </a:rPr>
              <a:t>Community review</a:t>
            </a:r>
            <a:endParaRPr lang="en-US" sz="1800" dirty="0"/>
          </a:p>
        </p:txBody>
      </p:sp>
      <p:sp>
        <p:nvSpPr>
          <p:cNvPr id="9" name="Text 7"/>
          <p:cNvSpPr txBox="1"/>
          <p:nvPr/>
        </p:nvSpPr>
        <p:spPr>
          <a:xfrm>
            <a:off x="4907128" y="2680208"/>
            <a:ext cx="2377440" cy="1005840"/>
          </a:xfrm>
          <a:prstGeom prst="rect">
            <a:avLst/>
          </a:prstGeom>
          <a:noFill/>
          <a:ln/>
        </p:spPr>
        <p:txBody>
          <a:bodyPr wrap="square" lIns="0" tIns="0" rIns="0" bIns="0" rtlCol="0" anchor="t"/>
          <a:lstStyle/>
          <a:p>
            <a:pPr algn="ctr" indent="0" marL="0">
              <a:buNone/>
            </a:pPr>
            <a:r>
              <a:rPr lang="en-US" sz="1500" dirty="0">
                <a:solidFill>
                  <a:srgbClr val="0F172A"/>
                </a:solidFill>
                <a:latin typeface="Arial" pitchFamily="34" charset="0"/>
                <a:ea typeface="Arial" pitchFamily="34" charset="-122"/>
                <a:cs typeface="Arial" pitchFamily="34" charset="-120"/>
              </a:rPr>
              <a:t>For each microbe we name, the community, led by the HTO, says yes, yes with conditions, or no.</a:t>
            </a:r>
            <a:endParaRPr lang="en-US" sz="1500" dirty="0"/>
          </a:p>
        </p:txBody>
      </p:sp>
      <p:sp>
        <p:nvSpPr>
          <p:cNvPr id="10" name="box Shared publicly"/>
          <p:cNvSpPr/>
          <p:nvPr/>
        </p:nvSpPr>
        <p:spPr>
          <a:xfrm>
            <a:off x="7741768" y="1445768"/>
            <a:ext cx="3901288" cy="2377440"/>
          </a:xfrm>
          <a:prstGeom prst="roundRect">
            <a:avLst>
              <a:gd name="adj" fmla="val 4615"/>
            </a:avLst>
          </a:prstGeom>
          <a:solidFill>
            <a:srgbClr val="E6F1F8"/>
          </a:solidFill>
          <a:ln w="12700">
            <a:solidFill>
              <a:srgbClr val="E6F1F8"/>
            </a:solidFill>
            <a:prstDash val="solid"/>
          </a:ln>
        </p:spPr>
      </p:sp>
      <p:sp>
        <p:nvSpPr>
          <p:cNvPr id="11" name="Text 9"/>
          <p:cNvSpPr txBox="1"/>
          <p:nvPr/>
        </p:nvSpPr>
        <p:spPr>
          <a:xfrm>
            <a:off x="7942936" y="1646936"/>
            <a:ext cx="3498952" cy="1975104"/>
          </a:xfrm>
          <a:prstGeom prst="rect">
            <a:avLst/>
          </a:prstGeom>
          <a:noFill/>
          <a:ln/>
        </p:spPr>
        <p:txBody>
          <a:bodyPr wrap="square" lIns="0" tIns="0" rIns="0" bIns="0" rtlCol="0" anchor="t">
            <a:normAutofit/>
          </a:bodyPr>
          <a:lstStyle/>
          <a:p>
            <a:pPr indent="0" marL="0">
              <a:spcAft>
                <a:spcPts val="600"/>
              </a:spcAft>
              <a:buNone/>
            </a:pPr>
            <a:r>
              <a:rPr lang="en-US" sz="1800" b="1" dirty="0">
                <a:solidFill>
                  <a:srgbClr val="0369A1"/>
                </a:solidFill>
                <a:latin typeface="Arial" pitchFamily="34" charset="0"/>
                <a:ea typeface="Arial" pitchFamily="34" charset="-122"/>
                <a:cs typeface="Arial" pitchFamily="34" charset="-120"/>
              </a:rPr>
              <a:t>Shared publicly</a:t>
            </a:r>
            <a:endParaRPr lang="en-US" sz="1800" dirty="0"/>
          </a:p>
          <a:p>
            <a:pPr marL="190500" indent="-190500">
              <a:spcAft>
                <a:spcPts val="400"/>
              </a:spcAft>
              <a:buSzPct val="100000"/>
              <a:buChar char="•"/>
            </a:pPr>
            <a:r>
              <a:rPr lang="en-US" sz="1600" dirty="0">
                <a:solidFill>
                  <a:srgbClr val="0F172A"/>
                </a:solidFill>
                <a:latin typeface="Arial" pitchFamily="34" charset="0"/>
                <a:ea typeface="Arial" pitchFamily="34" charset="-122"/>
                <a:cs typeface="Arial" pitchFamily="34" charset="-120"/>
              </a:rPr>
              <a:t>The genome of each named microbe</a:t>
            </a:r>
            <a:endParaRPr lang="en-US" sz="1800" dirty="0"/>
          </a:p>
          <a:p>
            <a:pPr marL="190500" indent="-190500">
              <a:spcAft>
                <a:spcPts val="400"/>
              </a:spcAft>
              <a:buSzPct val="100000"/>
              <a:buChar char="•"/>
            </a:pPr>
            <a:r>
              <a:rPr lang="en-US" sz="1600" dirty="0">
                <a:solidFill>
                  <a:srgbClr val="0F172A"/>
                </a:solidFill>
                <a:latin typeface="Arial" pitchFamily="34" charset="0"/>
                <a:ea typeface="Arial" pitchFamily="34" charset="-122"/>
                <a:cs typeface="Arial" pitchFamily="34" charset="-120"/>
              </a:rPr>
              <a:t>Its name and what the name means</a:t>
            </a:r>
            <a:endParaRPr lang="en-US" sz="1800" dirty="0"/>
          </a:p>
          <a:p>
            <a:pPr marL="190500" indent="-190500">
              <a:spcAft>
                <a:spcPts val="400"/>
              </a:spcAft>
              <a:buSzPct val="100000"/>
              <a:buChar char="•"/>
            </a:pPr>
            <a:r>
              <a:rPr lang="en-US" sz="1600" dirty="0">
                <a:solidFill>
                  <a:srgbClr val="0F172A"/>
                </a:solidFill>
                <a:latin typeface="Arial" pitchFamily="34" charset="0"/>
                <a:ea typeface="Arial" pitchFamily="34" charset="-122"/>
                <a:cs typeface="Arial" pitchFamily="34" charset="-120"/>
              </a:rPr>
              <a:t>Only the location details we agree to</a:t>
            </a:r>
            <a:endParaRPr lang="en-US" sz="1800" dirty="0"/>
          </a:p>
        </p:txBody>
      </p:sp>
      <p:sp>
        <p:nvSpPr>
          <p:cNvPr id="12" name="Text 10"/>
          <p:cNvSpPr txBox="1"/>
          <p:nvPr/>
        </p:nvSpPr>
        <p:spPr>
          <a:xfrm>
            <a:off x="548640" y="4097528"/>
            <a:ext cx="11094415" cy="33528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The community reviews each genome and its name before it is shared.</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OTHERS HAVE DONE THIS</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How other Indigenous groups manage DNA research</a:t>
            </a:r>
            <a:endParaRPr lang="en-US" sz="3200" dirty="0"/>
          </a:p>
        </p:txBody>
      </p:sp>
      <p:sp>
        <p:nvSpPr>
          <p:cNvPr id="4" name="box Nunavik"/>
          <p:cNvSpPr/>
          <p:nvPr/>
        </p:nvSpPr>
        <p:spPr>
          <a:xfrm>
            <a:off x="548640" y="1445768"/>
            <a:ext cx="3515258" cy="2286000"/>
          </a:xfrm>
          <a:prstGeom prst="roundRect">
            <a:avLst>
              <a:gd name="adj" fmla="val 4800"/>
            </a:avLst>
          </a:prstGeom>
          <a:solidFill>
            <a:srgbClr val="E7F5EF"/>
          </a:solidFill>
          <a:ln w="12700">
            <a:solidFill>
              <a:srgbClr val="E7F5EF"/>
            </a:solidFill>
            <a:prstDash val="solid"/>
          </a:ln>
        </p:spPr>
      </p:sp>
      <p:sp>
        <p:nvSpPr>
          <p:cNvPr id="5" name="Text 3"/>
          <p:cNvSpPr txBox="1"/>
          <p:nvPr/>
        </p:nvSpPr>
        <p:spPr>
          <a:xfrm>
            <a:off x="749808" y="1646936"/>
            <a:ext cx="3112922" cy="1883664"/>
          </a:xfrm>
          <a:prstGeom prst="rect">
            <a:avLst/>
          </a:prstGeom>
          <a:noFill/>
          <a:ln/>
        </p:spPr>
        <p:txBody>
          <a:bodyPr wrap="square" lIns="0" tIns="0" rIns="0" bIns="0" rtlCol="0" anchor="t">
            <a:normAutofit/>
          </a:bodyPr>
          <a:lstStyle/>
          <a:p>
            <a:pPr indent="0" marL="0">
              <a:spcAft>
                <a:spcPts val="600"/>
              </a:spcAft>
              <a:buNone/>
            </a:pPr>
            <a:r>
              <a:rPr lang="en-US" sz="1800" b="1" dirty="0">
                <a:solidFill>
                  <a:srgbClr val="047857"/>
                </a:solidFill>
                <a:latin typeface="Arial" pitchFamily="34" charset="0"/>
                <a:ea typeface="Arial" pitchFamily="34" charset="-122"/>
                <a:cs typeface="Arial" pitchFamily="34" charset="-120"/>
              </a:rPr>
              <a:t>Nunavik</a:t>
            </a:r>
            <a:endParaRPr lang="en-US" sz="1800" dirty="0"/>
          </a:p>
          <a:p>
            <a:pPr indent="0" marL="0">
              <a:spcAft>
                <a:spcPts val="600"/>
              </a:spcAft>
              <a:buNone/>
            </a:pPr>
            <a:r>
              <a:rPr lang="en-US" sz="1600" dirty="0">
                <a:solidFill>
                  <a:srgbClr val="0F172A"/>
                </a:solidFill>
                <a:latin typeface="Arial" pitchFamily="34" charset="0"/>
                <a:ea typeface="Arial" pitchFamily="34" charset="-122"/>
                <a:cs typeface="Arial" pitchFamily="34" charset="-120"/>
              </a:rPr>
              <a:t>In their health survey, "Nunavik institutions own all data and biological samples." A regional committee approves every use.</a:t>
            </a:r>
            <a:endParaRPr lang="en-US" sz="1800" dirty="0"/>
          </a:p>
        </p:txBody>
      </p:sp>
      <p:sp>
        <p:nvSpPr>
          <p:cNvPr id="6" name="box Greenland"/>
          <p:cNvSpPr/>
          <p:nvPr/>
        </p:nvSpPr>
        <p:spPr>
          <a:xfrm>
            <a:off x="4338218" y="1445768"/>
            <a:ext cx="3515258" cy="2286000"/>
          </a:xfrm>
          <a:prstGeom prst="roundRect">
            <a:avLst>
              <a:gd name="adj" fmla="val 4800"/>
            </a:avLst>
          </a:prstGeom>
          <a:solidFill>
            <a:srgbClr val="E7F5EF"/>
          </a:solidFill>
          <a:ln w="12700">
            <a:solidFill>
              <a:srgbClr val="E7F5EF"/>
            </a:solidFill>
            <a:prstDash val="solid"/>
          </a:ln>
        </p:spPr>
      </p:sp>
      <p:sp>
        <p:nvSpPr>
          <p:cNvPr id="7" name="Text 5"/>
          <p:cNvSpPr txBox="1"/>
          <p:nvPr/>
        </p:nvSpPr>
        <p:spPr>
          <a:xfrm>
            <a:off x="4539386" y="1646936"/>
            <a:ext cx="3112922" cy="1883664"/>
          </a:xfrm>
          <a:prstGeom prst="rect">
            <a:avLst/>
          </a:prstGeom>
          <a:noFill/>
          <a:ln/>
        </p:spPr>
        <p:txBody>
          <a:bodyPr wrap="square" lIns="0" tIns="0" rIns="0" bIns="0" rtlCol="0" anchor="t">
            <a:normAutofit/>
          </a:bodyPr>
          <a:lstStyle/>
          <a:p>
            <a:pPr indent="0" marL="0">
              <a:spcAft>
                <a:spcPts val="600"/>
              </a:spcAft>
              <a:buNone/>
            </a:pPr>
            <a:r>
              <a:rPr lang="en-US" sz="1800" b="1" dirty="0">
                <a:solidFill>
                  <a:srgbClr val="047857"/>
                </a:solidFill>
                <a:latin typeface="Arial" pitchFamily="34" charset="0"/>
                <a:ea typeface="Arial" pitchFamily="34" charset="-122"/>
                <a:cs typeface="Arial" pitchFamily="34" charset="-120"/>
              </a:rPr>
              <a:t>Greenland</a:t>
            </a:r>
            <a:endParaRPr lang="en-US" sz="1800" dirty="0"/>
          </a:p>
          <a:p>
            <a:pPr indent="0" marL="0">
              <a:spcAft>
                <a:spcPts val="600"/>
              </a:spcAft>
              <a:buNone/>
            </a:pPr>
            <a:r>
              <a:rPr lang="en-US" sz="1600" dirty="0">
                <a:solidFill>
                  <a:srgbClr val="0F172A"/>
                </a:solidFill>
                <a:latin typeface="Arial" pitchFamily="34" charset="0"/>
                <a:ea typeface="Arial" pitchFamily="34" charset="-122"/>
                <a:cs typeface="Arial" pitchFamily="34" charset="-120"/>
              </a:rPr>
              <a:t>A 2016 law covers DNA from Greenland, including microbes. Researchers need a permit, must share benefits, and must say the DNA came from Greenland.</a:t>
            </a:r>
            <a:endParaRPr lang="en-US" sz="1800" dirty="0"/>
          </a:p>
        </p:txBody>
      </p:sp>
      <p:sp>
        <p:nvSpPr>
          <p:cNvPr id="8" name="box New Zealand"/>
          <p:cNvSpPr/>
          <p:nvPr/>
        </p:nvSpPr>
        <p:spPr>
          <a:xfrm>
            <a:off x="8127797" y="1445768"/>
            <a:ext cx="3515258" cy="2286000"/>
          </a:xfrm>
          <a:prstGeom prst="roundRect">
            <a:avLst>
              <a:gd name="adj" fmla="val 4800"/>
            </a:avLst>
          </a:prstGeom>
          <a:solidFill>
            <a:srgbClr val="E7F5EF"/>
          </a:solidFill>
          <a:ln w="12700">
            <a:solidFill>
              <a:srgbClr val="E7F5EF"/>
            </a:solidFill>
            <a:prstDash val="solid"/>
          </a:ln>
        </p:spPr>
      </p:sp>
      <p:sp>
        <p:nvSpPr>
          <p:cNvPr id="9" name="Text 7"/>
          <p:cNvSpPr txBox="1"/>
          <p:nvPr/>
        </p:nvSpPr>
        <p:spPr>
          <a:xfrm>
            <a:off x="8328965" y="1646936"/>
            <a:ext cx="3112922" cy="1883664"/>
          </a:xfrm>
          <a:prstGeom prst="rect">
            <a:avLst/>
          </a:prstGeom>
          <a:noFill/>
          <a:ln/>
        </p:spPr>
        <p:txBody>
          <a:bodyPr wrap="square" lIns="0" tIns="0" rIns="0" bIns="0" rtlCol="0" anchor="t">
            <a:normAutofit/>
          </a:bodyPr>
          <a:lstStyle/>
          <a:p>
            <a:pPr indent="0" marL="0">
              <a:spcAft>
                <a:spcPts val="600"/>
              </a:spcAft>
              <a:buNone/>
            </a:pPr>
            <a:r>
              <a:rPr lang="en-US" sz="1800" b="1" dirty="0">
                <a:solidFill>
                  <a:srgbClr val="047857"/>
                </a:solidFill>
                <a:latin typeface="Arial" pitchFamily="34" charset="0"/>
                <a:ea typeface="Arial" pitchFamily="34" charset="-122"/>
                <a:cs typeface="Arial" pitchFamily="34" charset="-120"/>
              </a:rPr>
              <a:t>New Zealand</a:t>
            </a:r>
            <a:endParaRPr lang="en-US" sz="1800" dirty="0"/>
          </a:p>
          <a:p>
            <a:pPr indent="0" marL="0">
              <a:spcAft>
                <a:spcPts val="600"/>
              </a:spcAft>
              <a:buNone/>
            </a:pPr>
            <a:r>
              <a:rPr lang="en-US" sz="1600" dirty="0">
                <a:solidFill>
                  <a:srgbClr val="0F172A"/>
                </a:solidFill>
                <a:latin typeface="Arial" pitchFamily="34" charset="0"/>
                <a:ea typeface="Arial" pitchFamily="34" charset="-122"/>
                <a:cs typeface="Arial" pitchFamily="34" charset="-120"/>
              </a:rPr>
              <a:t>Māori guardians decide who can use the genomes of plants and animals that matter to them.</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LABELS</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Labels that show where the DNA came from</a:t>
            </a:r>
            <a:endParaRPr lang="en-US" sz="3200" dirty="0"/>
          </a:p>
        </p:txBody>
      </p:sp>
      <p:sp>
        <p:nvSpPr>
          <p:cNvPr id="4" name="Text 2"/>
          <p:cNvSpPr txBox="1"/>
          <p:nvPr/>
        </p:nvSpPr>
        <p:spPr>
          <a:xfrm>
            <a:off x="548640" y="1445768"/>
            <a:ext cx="11094415" cy="67056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An online label can be attached to the public genomes. It shows where the DNA came from and what the community expects.</a:t>
            </a:r>
            <a:endParaRPr lang="en-US" sz="2200" dirty="0"/>
          </a:p>
        </p:txBody>
      </p:sp>
      <p:sp>
        <p:nvSpPr>
          <p:cNvPr id="5" name="box What a label does"/>
          <p:cNvSpPr/>
          <p:nvPr/>
        </p:nvSpPr>
        <p:spPr>
          <a:xfrm>
            <a:off x="548640" y="2299208"/>
            <a:ext cx="5410048" cy="2316480"/>
          </a:xfrm>
          <a:prstGeom prst="roundRect">
            <a:avLst>
              <a:gd name="adj" fmla="val 4737"/>
            </a:avLst>
          </a:prstGeom>
          <a:solidFill>
            <a:srgbClr val="E7F5EF"/>
          </a:solidFill>
          <a:ln w="12700">
            <a:solidFill>
              <a:srgbClr val="E7F5EF"/>
            </a:solidFill>
            <a:prstDash val="solid"/>
          </a:ln>
        </p:spPr>
      </p:sp>
      <p:sp>
        <p:nvSpPr>
          <p:cNvPr id="6" name="Text 4"/>
          <p:cNvSpPr txBox="1"/>
          <p:nvPr/>
        </p:nvSpPr>
        <p:spPr>
          <a:xfrm>
            <a:off x="749808" y="2500376"/>
            <a:ext cx="5007712" cy="1914144"/>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47857"/>
                </a:solidFill>
                <a:latin typeface="Arial" pitchFamily="34" charset="0"/>
                <a:ea typeface="Arial" pitchFamily="34" charset="-122"/>
                <a:cs typeface="Arial" pitchFamily="34" charset="-120"/>
              </a:rPr>
              <a:t>What a label does</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Names Igluligaarjuk as the place the DNA came from.</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Only the community can choose its labels.</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The community can change them later.</a:t>
            </a:r>
            <a:endParaRPr lang="en-US" sz="2000" dirty="0"/>
          </a:p>
        </p:txBody>
      </p:sp>
      <p:sp>
        <p:nvSpPr>
          <p:cNvPr id="7" name="box What a label does not do"/>
          <p:cNvSpPr/>
          <p:nvPr/>
        </p:nvSpPr>
        <p:spPr>
          <a:xfrm>
            <a:off x="6233008" y="2299208"/>
            <a:ext cx="5410048" cy="2316480"/>
          </a:xfrm>
          <a:prstGeom prst="roundRect">
            <a:avLst>
              <a:gd name="adj" fmla="val 4737"/>
            </a:avLst>
          </a:prstGeom>
          <a:solidFill>
            <a:srgbClr val="EEF4F8"/>
          </a:solidFill>
          <a:ln w="12700">
            <a:solidFill>
              <a:srgbClr val="EEF4F8"/>
            </a:solidFill>
            <a:prstDash val="solid"/>
          </a:ln>
        </p:spPr>
      </p:sp>
      <p:sp>
        <p:nvSpPr>
          <p:cNvPr id="8" name="Text 6"/>
          <p:cNvSpPr txBox="1"/>
          <p:nvPr/>
        </p:nvSpPr>
        <p:spPr>
          <a:xfrm>
            <a:off x="6434176" y="2500376"/>
            <a:ext cx="5007712" cy="1914144"/>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B2A3F"/>
                </a:solidFill>
                <a:latin typeface="Arial" pitchFamily="34" charset="0"/>
                <a:ea typeface="Arial" pitchFamily="34" charset="-122"/>
                <a:cs typeface="Arial" pitchFamily="34" charset="-120"/>
              </a:rPr>
              <a:t>What a label does not do</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It does not limit who can download the genome.</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It states the community's expectations; it is not a legal rule.</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CHOOSING NAMES</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What goes into a name</a:t>
            </a:r>
            <a:endParaRPr lang="en-US" sz="3200" dirty="0"/>
          </a:p>
        </p:txBody>
      </p:sp>
      <p:sp>
        <p:nvSpPr>
          <p:cNvPr id="4" name="box Each name will record"/>
          <p:cNvSpPr/>
          <p:nvPr/>
        </p:nvSpPr>
        <p:spPr>
          <a:xfrm>
            <a:off x="548640" y="1445768"/>
            <a:ext cx="5410048" cy="3816096"/>
          </a:xfrm>
          <a:prstGeom prst="roundRect">
            <a:avLst>
              <a:gd name="adj" fmla="val 2875"/>
            </a:avLst>
          </a:prstGeom>
          <a:solidFill>
            <a:srgbClr val="EEF4F8"/>
          </a:solidFill>
          <a:ln w="12700">
            <a:solidFill>
              <a:srgbClr val="EEF4F8"/>
            </a:solidFill>
            <a:prstDash val="solid"/>
          </a:ln>
        </p:spPr>
      </p:sp>
      <p:sp>
        <p:nvSpPr>
          <p:cNvPr id="5" name="Text 3"/>
          <p:cNvSpPr txBox="1"/>
          <p:nvPr/>
        </p:nvSpPr>
        <p:spPr>
          <a:xfrm>
            <a:off x="749808" y="1646936"/>
            <a:ext cx="5007712" cy="3413760"/>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B2A3F"/>
                </a:solidFill>
                <a:latin typeface="Arial" pitchFamily="34" charset="0"/>
                <a:ea typeface="Arial" pitchFamily="34" charset="-122"/>
                <a:cs typeface="Arial" pitchFamily="34" charset="-120"/>
              </a:rPr>
              <a:t>Each name will record</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The word in syllabics and Roman letters</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What it means</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That it came from Igluligaarjuk</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Who suggested it, if they want to be named</a:t>
            </a:r>
            <a:endParaRPr lang="en-US" sz="2000" dirty="0"/>
          </a:p>
          <a:p>
            <a:pPr indent="0" marL="0">
              <a:spcBef>
                <a:spcPts val="600"/>
              </a:spcBef>
              <a:spcAft>
                <a:spcPts val="600"/>
              </a:spcAft>
              <a:buNone/>
            </a:pPr>
            <a:r>
              <a:rPr lang="en-US" sz="1700" dirty="0">
                <a:solidFill>
                  <a:srgbClr val="475569"/>
                </a:solidFill>
                <a:latin typeface="Arial" pitchFamily="34" charset="0"/>
                <a:ea typeface="Arial" pitchFamily="34" charset="-122"/>
                <a:cs typeface="Arial" pitchFamily="34" charset="-120"/>
              </a:rPr>
              <a:t>Once a name is published, we can't take it back. As scientists learn more, they may move a microbe to a new group and rename it, but the record of the first name, and who chose it, stays.</a:t>
            </a:r>
            <a:endParaRPr lang="en-US" sz="2000" dirty="0"/>
          </a:p>
        </p:txBody>
      </p:sp>
      <p:sp>
        <p:nvSpPr>
          <p:cNvPr id="6" name="box An earlier Inuktitut name"/>
          <p:cNvSpPr/>
          <p:nvPr/>
        </p:nvSpPr>
        <p:spPr>
          <a:xfrm>
            <a:off x="6233008" y="1445768"/>
            <a:ext cx="5410048" cy="3816096"/>
          </a:xfrm>
          <a:prstGeom prst="roundRect">
            <a:avLst>
              <a:gd name="adj" fmla="val 2875"/>
            </a:avLst>
          </a:prstGeom>
          <a:solidFill>
            <a:srgbClr val="E6F1F8"/>
          </a:solidFill>
          <a:ln w="12700">
            <a:solidFill>
              <a:srgbClr val="E6F1F8"/>
            </a:solidFill>
            <a:prstDash val="solid"/>
          </a:ln>
        </p:spPr>
      </p:sp>
      <p:sp>
        <p:nvSpPr>
          <p:cNvPr id="7" name="Text 5"/>
          <p:cNvSpPr txBox="1"/>
          <p:nvPr/>
        </p:nvSpPr>
        <p:spPr>
          <a:xfrm>
            <a:off x="6434176" y="1646936"/>
            <a:ext cx="5007712" cy="3413760"/>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369A1"/>
                </a:solidFill>
                <a:latin typeface="Arial" pitchFamily="34" charset="0"/>
                <a:ea typeface="Arial" pitchFamily="34" charset="-122"/>
                <a:cs typeface="Arial" pitchFamily="34" charset="-120"/>
              </a:rPr>
              <a:t>An earlier Inuktitut name</a:t>
            </a:r>
            <a:endParaRPr lang="en-US" sz="2000" dirty="0"/>
          </a:p>
          <a:p>
            <a:pPr indent="0" marL="0">
              <a:spcAft>
                <a:spcPts val="600"/>
              </a:spcAft>
              <a:buNone/>
            </a:pPr>
            <a:r>
              <a:rPr lang="en-US" sz="1800" dirty="0">
                <a:solidFill>
                  <a:srgbClr val="0F172A"/>
                </a:solidFill>
                <a:latin typeface="Arial" pitchFamily="34" charset="0"/>
                <a:ea typeface="Arial" pitchFamily="34" charset="-122"/>
                <a:cs typeface="Arial" pitchFamily="34" charset="-120"/>
              </a:rPr>
              <a:t>Tariuqbacter (2023) is a microbe from Ellesmere Island. Scientists picked the name and talked it over with an Elder in Grise Fiord, Larry Audlaluk.</a:t>
            </a:r>
            <a:endParaRPr lang="en-US" sz="2000" dirty="0"/>
          </a:p>
          <a:p>
            <a:pPr indent="0" marL="0">
              <a:spcAft>
                <a:spcPts val="600"/>
              </a:spcAft>
              <a:buNone/>
            </a:pPr>
            <a:r>
              <a:rPr lang="en-US" sz="1800" dirty="0">
                <a:solidFill>
                  <a:srgbClr val="0F172A"/>
                </a:solidFill>
                <a:latin typeface="Arial" pitchFamily="34" charset="0"/>
                <a:ea typeface="Arial" pitchFamily="34" charset="-122"/>
                <a:cs typeface="Arial" pitchFamily="34" charset="-120"/>
              </a:rPr>
              <a:t>In this workshop, community members choose the names. We have not found an earlier example of this.</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WHAT THE COMMUNITY GETS</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Benefits for the community</a:t>
            </a:r>
            <a:endParaRPr lang="en-US" sz="3200" dirty="0"/>
          </a:p>
        </p:txBody>
      </p:sp>
      <p:sp>
        <p:nvSpPr>
          <p:cNvPr id="4" name="box What the agreement will include"/>
          <p:cNvSpPr/>
          <p:nvPr/>
        </p:nvSpPr>
        <p:spPr>
          <a:xfrm>
            <a:off x="548640" y="1445768"/>
            <a:ext cx="5410048" cy="3249168"/>
          </a:xfrm>
          <a:prstGeom prst="roundRect">
            <a:avLst>
              <a:gd name="adj" fmla="val 3377"/>
            </a:avLst>
          </a:prstGeom>
          <a:solidFill>
            <a:srgbClr val="E7F5EF"/>
          </a:solidFill>
          <a:ln w="12700">
            <a:solidFill>
              <a:srgbClr val="E7F5EF"/>
            </a:solidFill>
            <a:prstDash val="solid"/>
          </a:ln>
        </p:spPr>
      </p:sp>
      <p:sp>
        <p:nvSpPr>
          <p:cNvPr id="5" name="Text 3"/>
          <p:cNvSpPr txBox="1"/>
          <p:nvPr/>
        </p:nvSpPr>
        <p:spPr>
          <a:xfrm>
            <a:off x="749808" y="1646936"/>
            <a:ext cx="5007712" cy="2846832"/>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47857"/>
                </a:solidFill>
                <a:latin typeface="Arial" pitchFamily="34" charset="0"/>
                <a:ea typeface="Arial" pitchFamily="34" charset="-122"/>
                <a:cs typeface="Arial" pitchFamily="34" charset="-120"/>
              </a:rPr>
              <a:t>What the agreement will include</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Credit for the community in every name</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Pay for Elders, knowledge holders and interpreters</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Paid local jobs and training for youth</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Results brought back here, in Inuktitut</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Anyone who wants to use these genomes commercially must ask the community first</a:t>
            </a:r>
            <a:endParaRPr lang="en-US" sz="2000" dirty="0"/>
          </a:p>
        </p:txBody>
      </p:sp>
      <p:sp>
        <p:nvSpPr>
          <p:cNvPr id="6" name="box The UN fund"/>
          <p:cNvSpPr/>
          <p:nvPr/>
        </p:nvSpPr>
        <p:spPr>
          <a:xfrm>
            <a:off x="6233008" y="1445768"/>
            <a:ext cx="5410048" cy="3249168"/>
          </a:xfrm>
          <a:prstGeom prst="roundRect">
            <a:avLst>
              <a:gd name="adj" fmla="val 3377"/>
            </a:avLst>
          </a:prstGeom>
          <a:solidFill>
            <a:srgbClr val="EEF4F8"/>
          </a:solidFill>
          <a:ln w="12700">
            <a:solidFill>
              <a:srgbClr val="EEF4F8"/>
            </a:solidFill>
            <a:prstDash val="solid"/>
          </a:ln>
        </p:spPr>
      </p:sp>
      <p:sp>
        <p:nvSpPr>
          <p:cNvPr id="7" name="Text 5"/>
          <p:cNvSpPr txBox="1"/>
          <p:nvPr/>
        </p:nvSpPr>
        <p:spPr>
          <a:xfrm>
            <a:off x="6434176" y="1646936"/>
            <a:ext cx="5007712" cy="2846832"/>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B2A3F"/>
                </a:solidFill>
                <a:latin typeface="Arial" pitchFamily="34" charset="0"/>
                <a:ea typeface="Arial" pitchFamily="34" charset="-122"/>
                <a:cs typeface="Arial" pitchFamily="34" charset="-120"/>
              </a:rPr>
              <a:t>The UN fund</a:t>
            </a:r>
            <a:endParaRPr lang="en-US" sz="2000" dirty="0"/>
          </a:p>
          <a:p>
            <a:pPr indent="0" marL="0">
              <a:spcAft>
                <a:spcPts val="600"/>
              </a:spcAft>
              <a:buNone/>
            </a:pPr>
            <a:r>
              <a:rPr lang="en-US" sz="1800" dirty="0">
                <a:solidFill>
                  <a:srgbClr val="0F172A"/>
                </a:solidFill>
                <a:latin typeface="Arial" pitchFamily="34" charset="0"/>
                <a:ea typeface="Arial" pitchFamily="34" charset="-122"/>
                <a:cs typeface="Arial" pitchFamily="34" charset="-120"/>
              </a:rPr>
              <a:t>In 2024 the UN set up a fund for companies that profit from public DNA data. It has collected less than $10,000 worldwide so far, and payments go to a global fund rather than to the places the DNA came from.</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RETURNING RESULTS</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Bringing results back to the community</a:t>
            </a:r>
            <a:endParaRPr lang="en-US" sz="3200" dirty="0"/>
          </a:p>
        </p:txBody>
      </p:sp>
      <p:sp>
        <p:nvSpPr>
          <p:cNvPr id="4" name="Text 2"/>
          <p:cNvSpPr txBox="1"/>
          <p:nvPr/>
        </p:nvSpPr>
        <p:spPr>
          <a:xfrm>
            <a:off x="548640" y="1445768"/>
            <a:ext cx="11094415" cy="100584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A study in Nunatsiavut found that about two out of three research projects from 2011 to 2021 did not return their results to the community. Our plan:</a:t>
            </a:r>
            <a:endParaRPr lang="en-US" sz="2200" dirty="0"/>
          </a:p>
        </p:txBody>
      </p:sp>
      <p:sp>
        <p:nvSpPr>
          <p:cNvPr id="5" name="box How results will come back"/>
          <p:cNvSpPr/>
          <p:nvPr/>
        </p:nvSpPr>
        <p:spPr>
          <a:xfrm>
            <a:off x="548640" y="2634488"/>
            <a:ext cx="11094415" cy="1767840"/>
          </a:xfrm>
          <a:prstGeom prst="roundRect">
            <a:avLst>
              <a:gd name="adj" fmla="val 6207"/>
            </a:avLst>
          </a:prstGeom>
          <a:solidFill>
            <a:srgbClr val="EEF4F8"/>
          </a:solidFill>
          <a:ln w="12700">
            <a:solidFill>
              <a:srgbClr val="EEF4F8"/>
            </a:solidFill>
            <a:prstDash val="solid"/>
          </a:ln>
        </p:spPr>
      </p:sp>
      <p:sp>
        <p:nvSpPr>
          <p:cNvPr id="6" name="Text 4"/>
          <p:cNvSpPr txBox="1"/>
          <p:nvPr/>
        </p:nvSpPr>
        <p:spPr>
          <a:xfrm>
            <a:off x="749808" y="2835656"/>
            <a:ext cx="10692079" cy="1365504"/>
          </a:xfrm>
          <a:prstGeom prst="rect">
            <a:avLst/>
          </a:prstGeom>
          <a:noFill/>
          <a:ln/>
        </p:spPr>
        <p:txBody>
          <a:bodyPr wrap="square" lIns="0" tIns="0" rIns="0" bIns="0" rtlCol="0" anchor="t">
            <a:normAutofit/>
          </a:bodyPr>
          <a:lstStyle/>
          <a:p>
            <a:pPr indent="0" marL="0">
              <a:spcAft>
                <a:spcPts val="600"/>
              </a:spcAft>
              <a:buNone/>
            </a:pPr>
            <a:r>
              <a:rPr lang="en-US" sz="2000" b="1" dirty="0">
                <a:solidFill>
                  <a:srgbClr val="0B2A3F"/>
                </a:solidFill>
                <a:latin typeface="Arial" pitchFamily="34" charset="0"/>
                <a:ea typeface="Arial" pitchFamily="34" charset="-122"/>
                <a:cs typeface="Arial" pitchFamily="34" charset="-120"/>
              </a:rPr>
              <a:t>How results will come back</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A short report in Inuktitut and English, plus posters and radio.</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The official names sent to the Hamlet and the HTO.</a:t>
            </a:r>
            <a:endParaRPr lang="en-US" sz="2000" dirty="0"/>
          </a:p>
          <a:p>
            <a:pPr marL="190500" indent="-190500">
              <a:spcAft>
                <a:spcPts val="400"/>
              </a:spcAft>
              <a:buSzPct val="100000"/>
              <a:buChar char="•"/>
            </a:pPr>
            <a:r>
              <a:rPr lang="en-US" sz="1800" dirty="0">
                <a:solidFill>
                  <a:srgbClr val="0F172A"/>
                </a:solidFill>
                <a:latin typeface="Arial" pitchFamily="34" charset="0"/>
                <a:ea typeface="Arial" pitchFamily="34" charset="-122"/>
                <a:cs typeface="Arial" pitchFamily="34" charset="-120"/>
              </a:rPr>
              <a:t>A copy of all the data kept here, in the community.</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DECISION 1 OF 6</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After the workshop, who makes these decisions?</a:t>
            </a:r>
            <a:endParaRPr lang="en-US" sz="3200" dirty="0"/>
          </a:p>
        </p:txBody>
      </p:sp>
      <p:sp>
        <p:nvSpPr>
          <p:cNvPr id="4" name="box The HTO board alone"/>
          <p:cNvSpPr/>
          <p:nvPr/>
        </p:nvSpPr>
        <p:spPr>
          <a:xfrm>
            <a:off x="548640" y="1582928"/>
            <a:ext cx="3515258" cy="3105912"/>
          </a:xfrm>
          <a:prstGeom prst="roundRect">
            <a:avLst>
              <a:gd name="adj" fmla="val 3533"/>
            </a:avLst>
          </a:prstGeom>
          <a:solidFill>
            <a:srgbClr val="EEF4F8"/>
          </a:solidFill>
          <a:ln w="12700">
            <a:solidFill>
              <a:srgbClr val="EEF4F8"/>
            </a:solidFill>
            <a:prstDash val="solid"/>
          </a:ln>
        </p:spPr>
      </p:sp>
      <p:sp>
        <p:nvSpPr>
          <p:cNvPr id="5" name="Text 3"/>
          <p:cNvSpPr txBox="1"/>
          <p:nvPr/>
        </p:nvSpPr>
        <p:spPr>
          <a:xfrm>
            <a:off x="749808" y="1784096"/>
            <a:ext cx="3112922" cy="270357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A</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The HTO board alone</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Already reviews research here, and will sign our agreement.</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Elders and youth may not have a voice.</a:t>
            </a:r>
            <a:endParaRPr lang="en-US" sz="1100" dirty="0"/>
          </a:p>
        </p:txBody>
      </p:sp>
      <p:sp>
        <p:nvSpPr>
          <p:cNvPr id="6" name="box A data group led by the HTO"/>
          <p:cNvSpPr/>
          <p:nvPr/>
        </p:nvSpPr>
        <p:spPr>
          <a:xfrm>
            <a:off x="4338218" y="1582928"/>
            <a:ext cx="3515258" cy="3105912"/>
          </a:xfrm>
          <a:prstGeom prst="roundRect">
            <a:avLst>
              <a:gd name="adj" fmla="val 3533"/>
            </a:avLst>
          </a:prstGeom>
          <a:solidFill>
            <a:srgbClr val="FEF3C7"/>
          </a:solidFill>
          <a:ln w="19050">
            <a:solidFill>
              <a:srgbClr val="F59E0B"/>
            </a:solidFill>
            <a:prstDash val="solid"/>
          </a:ln>
        </p:spPr>
      </p:sp>
      <p:sp>
        <p:nvSpPr>
          <p:cNvPr id="7" name="Text 5"/>
          <p:cNvSpPr txBox="1"/>
          <p:nvPr/>
        </p:nvSpPr>
        <p:spPr>
          <a:xfrm>
            <a:off x="4539386" y="1784096"/>
            <a:ext cx="3112922" cy="270357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B</a:t>
            </a:r>
            <a:endParaRPr lang="en-US" sz="1100" dirty="0"/>
          </a:p>
          <a:p>
            <a:pPr indent="0" marL="0">
              <a:spcAft>
                <a:spcPts val="600"/>
              </a:spcAft>
              <a:buNone/>
            </a:pPr>
            <a:r>
              <a:rPr lang="en-US" sz="1800" b="1" dirty="0">
                <a:solidFill>
                  <a:srgbClr val="B45309"/>
                </a:solidFill>
                <a:latin typeface="Arial" pitchFamily="34" charset="0"/>
                <a:ea typeface="Arial" pitchFamily="34" charset="-122"/>
                <a:cs typeface="Arial" pitchFamily="34" charset="-120"/>
              </a:rPr>
              <a:t>A data group led by the HTO</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The HTO leads, with an Elder, a youth and someone from the Hamlet. They learn the details and can meet quickly.</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Takes some effort to set up.</a:t>
            </a:r>
            <a:endParaRPr lang="en-US" sz="1100" dirty="0"/>
          </a:p>
        </p:txBody>
      </p:sp>
      <p:sp>
        <p:nvSpPr>
          <p:cNvPr id="8" name="suggestion badge"/>
          <p:cNvSpPr/>
          <p:nvPr/>
        </p:nvSpPr>
        <p:spPr>
          <a:xfrm>
            <a:off x="5978957" y="1427480"/>
            <a:ext cx="1691640" cy="310896"/>
          </a:xfrm>
          <a:prstGeom prst="roundRect">
            <a:avLst>
              <a:gd name="adj" fmla="val 50000"/>
            </a:avLst>
          </a:prstGeom>
          <a:solidFill>
            <a:srgbClr val="F59E0B"/>
          </a:solidFill>
          <a:ln w="12700">
            <a:solidFill>
              <a:srgbClr val="F59E0B"/>
            </a:solidFill>
            <a:prstDash val="solid"/>
          </a:ln>
        </p:spPr>
      </p:sp>
      <p:sp>
        <p:nvSpPr>
          <p:cNvPr id="9" name="Text 7"/>
          <p:cNvSpPr txBox="1"/>
          <p:nvPr/>
        </p:nvSpPr>
        <p:spPr>
          <a:xfrm>
            <a:off x="5978957" y="1427480"/>
            <a:ext cx="1691640" cy="310896"/>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 Our suggestion</a:t>
            </a:r>
            <a:endParaRPr lang="en-US" sz="1200" dirty="0"/>
          </a:p>
        </p:txBody>
      </p:sp>
      <p:sp>
        <p:nvSpPr>
          <p:cNvPr id="10" name="box A public meeting every time"/>
          <p:cNvSpPr/>
          <p:nvPr/>
        </p:nvSpPr>
        <p:spPr>
          <a:xfrm>
            <a:off x="8127797" y="1582928"/>
            <a:ext cx="3515258" cy="3105912"/>
          </a:xfrm>
          <a:prstGeom prst="roundRect">
            <a:avLst>
              <a:gd name="adj" fmla="val 3533"/>
            </a:avLst>
          </a:prstGeom>
          <a:solidFill>
            <a:srgbClr val="EEF4F8"/>
          </a:solidFill>
          <a:ln w="12700">
            <a:solidFill>
              <a:srgbClr val="EEF4F8"/>
            </a:solidFill>
            <a:prstDash val="solid"/>
          </a:ln>
        </p:spPr>
      </p:sp>
      <p:sp>
        <p:nvSpPr>
          <p:cNvPr id="11" name="Text 9"/>
          <p:cNvSpPr txBox="1"/>
          <p:nvPr/>
        </p:nvSpPr>
        <p:spPr>
          <a:xfrm>
            <a:off x="8328965" y="1784096"/>
            <a:ext cx="3112922" cy="270357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C</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A public meeting every time</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Everyone gets a say.</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Hard to bring everyone together for each decision.</a:t>
            </a:r>
            <a:endParaRPr lang="en-US" sz="1100" dirty="0"/>
          </a:p>
        </p:txBody>
      </p:sp>
      <p:sp>
        <p:nvSpPr>
          <p:cNvPr id="12" name="Text 10"/>
          <p:cNvSpPr txBox="1"/>
          <p:nvPr/>
        </p:nvSpPr>
        <p:spPr>
          <a:xfrm>
            <a:off x="548640" y="4963160"/>
            <a:ext cx="11094415" cy="518160"/>
          </a:xfrm>
          <a:prstGeom prst="rect">
            <a:avLst/>
          </a:prstGeom>
          <a:noFill/>
          <a:ln/>
        </p:spPr>
        <p:txBody>
          <a:bodyPr wrap="square" lIns="0" tIns="0" rIns="0" bIns="0" rtlCol="0" anchor="t"/>
          <a:lstStyle/>
          <a:p>
            <a:pPr indent="0" marL="0">
              <a:buNone/>
            </a:pPr>
            <a:r>
              <a:rPr lang="en-US" sz="1700" b="1" dirty="0">
                <a:solidFill>
                  <a:srgbClr val="B45309"/>
                </a:solidFill>
                <a:latin typeface="Arial" pitchFamily="34" charset="0"/>
                <a:ea typeface="Arial" pitchFamily="34" charset="-122"/>
                <a:cs typeface="Arial" pitchFamily="34" charset="-120"/>
              </a:rPr>
              <a:t>Why B: </a:t>
            </a:r>
            <a:pPr indent="0" marL="0">
              <a:buNone/>
            </a:pPr>
            <a:r>
              <a:rPr lang="en-US" sz="1700" dirty="0">
                <a:solidFill>
                  <a:srgbClr val="0F172A"/>
                </a:solidFill>
                <a:latin typeface="Arial" pitchFamily="34" charset="0"/>
                <a:ea typeface="Arial" pitchFamily="34" charset="-122"/>
                <a:cs typeface="Arial" pitchFamily="34" charset="-120"/>
              </a:rPr>
              <a:t>the HTO signs the agreement and keeps the lead, and Elders and youth are part of every decision.</a:t>
            </a:r>
            <a:endParaRPr lang="en-US" sz="1700" dirty="0"/>
          </a:p>
        </p:txBody>
      </p:sp>
      <p:sp>
        <p:nvSpPr>
          <p:cNvPr id="13" name="first draft note"/>
          <p:cNvSpPr/>
          <p:nvPr/>
        </p:nvSpPr>
        <p:spPr>
          <a:xfrm>
            <a:off x="548640" y="5618480"/>
            <a:ext cx="11094415" cy="457200"/>
          </a:xfrm>
          <a:prstGeom prst="roundRect">
            <a:avLst>
              <a:gd name="adj" fmla="val 16000"/>
            </a:avLst>
          </a:prstGeom>
          <a:solidFill>
            <a:srgbClr val="FEF3C7"/>
          </a:solidFill>
          <a:ln w="15875">
            <a:solidFill>
              <a:srgbClr val="F59E0B"/>
            </a:solidFill>
            <a:prstDash val="dash"/>
          </a:ln>
        </p:spPr>
      </p:sp>
      <p:sp>
        <p:nvSpPr>
          <p:cNvPr id="14" name="Text 12"/>
          <p:cNvSpPr txBox="1"/>
          <p:nvPr/>
        </p:nvSpPr>
        <p:spPr>
          <a:xfrm>
            <a:off x="731520" y="5618480"/>
            <a:ext cx="10728655" cy="457200"/>
          </a:xfrm>
          <a:prstGeom prst="rect">
            <a:avLst/>
          </a:prstGeom>
          <a:noFill/>
          <a:ln/>
        </p:spPr>
        <p:txBody>
          <a:bodyPr wrap="square" lIns="0" tIns="0" rIns="0" bIns="0" rtlCol="0" anchor="ctr"/>
          <a:lstStyle/>
          <a:p>
            <a:pPr indent="0" marL="0">
              <a:buNone/>
            </a:pPr>
            <a:r>
              <a:rPr lang="en-US" sz="1400" dirty="0">
                <a:solidFill>
                  <a:srgbClr val="0F172A"/>
                </a:solidFill>
                <a:latin typeface="Arial" pitchFamily="34" charset="0"/>
                <a:ea typeface="Arial" pitchFamily="34" charset="-122"/>
                <a:cs typeface="Arial" pitchFamily="34" charset="-120"/>
              </a:rPr>
              <a:t>📝 First draft: today's choices become final only when we sign a written agreement with the HTO.</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DECISION 2 OF 6</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When does a genome go public?</a:t>
            </a:r>
            <a:endParaRPr lang="en-US" sz="3200" dirty="0"/>
          </a:p>
        </p:txBody>
      </p:sp>
      <p:sp>
        <p:nvSpPr>
          <p:cNvPr id="4" name="box Post all of them now"/>
          <p:cNvSpPr/>
          <p:nvPr/>
        </p:nvSpPr>
        <p:spPr>
          <a:xfrm>
            <a:off x="548640" y="1582928"/>
            <a:ext cx="3515258" cy="2587752"/>
          </a:xfrm>
          <a:prstGeom prst="roundRect">
            <a:avLst>
              <a:gd name="adj" fmla="val 4240"/>
            </a:avLst>
          </a:prstGeom>
          <a:solidFill>
            <a:srgbClr val="EEF4F8"/>
          </a:solidFill>
          <a:ln w="12700">
            <a:solidFill>
              <a:srgbClr val="EEF4F8"/>
            </a:solidFill>
            <a:prstDash val="solid"/>
          </a:ln>
        </p:spPr>
      </p:sp>
      <p:sp>
        <p:nvSpPr>
          <p:cNvPr id="5" name="Text 3"/>
          <p:cNvSpPr txBox="1"/>
          <p:nvPr/>
        </p:nvSpPr>
        <p:spPr>
          <a:xfrm>
            <a:off x="749808" y="1784096"/>
            <a:ext cx="3112922" cy="218541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A</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Post all of them now</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The fastest option; scientists can use them right away.</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The community gives up its say before the names are chosen.</a:t>
            </a:r>
            <a:endParaRPr lang="en-US" sz="1100" dirty="0"/>
          </a:p>
        </p:txBody>
      </p:sp>
      <p:sp>
        <p:nvSpPr>
          <p:cNvPr id="6" name="box One at a time, after the name is approved"/>
          <p:cNvSpPr/>
          <p:nvPr/>
        </p:nvSpPr>
        <p:spPr>
          <a:xfrm>
            <a:off x="4338218" y="1582928"/>
            <a:ext cx="3515258" cy="2587752"/>
          </a:xfrm>
          <a:prstGeom prst="roundRect">
            <a:avLst>
              <a:gd name="adj" fmla="val 4240"/>
            </a:avLst>
          </a:prstGeom>
          <a:solidFill>
            <a:srgbClr val="FEF3C7"/>
          </a:solidFill>
          <a:ln w="19050">
            <a:solidFill>
              <a:srgbClr val="F59E0B"/>
            </a:solidFill>
            <a:prstDash val="solid"/>
          </a:ln>
        </p:spPr>
      </p:sp>
      <p:sp>
        <p:nvSpPr>
          <p:cNvPr id="7" name="Text 5"/>
          <p:cNvSpPr txBox="1"/>
          <p:nvPr/>
        </p:nvSpPr>
        <p:spPr>
          <a:xfrm>
            <a:off x="4539386" y="1784096"/>
            <a:ext cx="3112922" cy="218541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B</a:t>
            </a:r>
            <a:endParaRPr lang="en-US" sz="1100" dirty="0"/>
          </a:p>
          <a:p>
            <a:pPr indent="0" marL="0">
              <a:spcAft>
                <a:spcPts val="600"/>
              </a:spcAft>
              <a:buNone/>
            </a:pPr>
            <a:r>
              <a:rPr lang="en-US" sz="1800" b="1" dirty="0">
                <a:solidFill>
                  <a:srgbClr val="B45309"/>
                </a:solidFill>
                <a:latin typeface="Arial" pitchFamily="34" charset="0"/>
                <a:ea typeface="Arial" pitchFamily="34" charset="-122"/>
                <a:cs typeface="Arial" pitchFamily="34" charset="-120"/>
              </a:rPr>
              <a:t>One at a time, after the name is approved</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The data group sees each final name and says yes or no for that genome.</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Takes longer.</a:t>
            </a:r>
            <a:endParaRPr lang="en-US" sz="1100" dirty="0"/>
          </a:p>
        </p:txBody>
      </p:sp>
      <p:sp>
        <p:nvSpPr>
          <p:cNvPr id="8" name="suggestion badge"/>
          <p:cNvSpPr/>
          <p:nvPr/>
        </p:nvSpPr>
        <p:spPr>
          <a:xfrm>
            <a:off x="5978957" y="1427480"/>
            <a:ext cx="1691640" cy="310896"/>
          </a:xfrm>
          <a:prstGeom prst="roundRect">
            <a:avLst>
              <a:gd name="adj" fmla="val 50000"/>
            </a:avLst>
          </a:prstGeom>
          <a:solidFill>
            <a:srgbClr val="F59E0B"/>
          </a:solidFill>
          <a:ln w="12700">
            <a:solidFill>
              <a:srgbClr val="F59E0B"/>
            </a:solidFill>
            <a:prstDash val="solid"/>
          </a:ln>
        </p:spPr>
      </p:sp>
      <p:sp>
        <p:nvSpPr>
          <p:cNvPr id="9" name="Text 7"/>
          <p:cNvSpPr txBox="1"/>
          <p:nvPr/>
        </p:nvSpPr>
        <p:spPr>
          <a:xfrm>
            <a:off x="5978957" y="1427480"/>
            <a:ext cx="1691640" cy="310896"/>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 Our suggestion</a:t>
            </a:r>
            <a:endParaRPr lang="en-US" sz="1200" dirty="0"/>
          </a:p>
        </p:txBody>
      </p:sp>
      <p:sp>
        <p:nvSpPr>
          <p:cNvPr id="10" name="box Post none"/>
          <p:cNvSpPr/>
          <p:nvPr/>
        </p:nvSpPr>
        <p:spPr>
          <a:xfrm>
            <a:off x="8127797" y="1582928"/>
            <a:ext cx="3515258" cy="2587752"/>
          </a:xfrm>
          <a:prstGeom prst="roundRect">
            <a:avLst>
              <a:gd name="adj" fmla="val 4240"/>
            </a:avLst>
          </a:prstGeom>
          <a:solidFill>
            <a:srgbClr val="EEF4F8"/>
          </a:solidFill>
          <a:ln w="12700">
            <a:solidFill>
              <a:srgbClr val="EEF4F8"/>
            </a:solidFill>
            <a:prstDash val="solid"/>
          </a:ln>
        </p:spPr>
      </p:sp>
      <p:sp>
        <p:nvSpPr>
          <p:cNvPr id="11" name="Text 9"/>
          <p:cNvSpPr txBox="1"/>
          <p:nvPr/>
        </p:nvSpPr>
        <p:spPr>
          <a:xfrm>
            <a:off x="8328965" y="1784096"/>
            <a:ext cx="3112922" cy="218541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C</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Post none</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Everything stays here.</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No official names at all.</a:t>
            </a:r>
            <a:endParaRPr lang="en-US" sz="1100" dirty="0"/>
          </a:p>
        </p:txBody>
      </p:sp>
      <p:sp>
        <p:nvSpPr>
          <p:cNvPr id="12" name="Text 10"/>
          <p:cNvSpPr txBox="1"/>
          <p:nvPr/>
        </p:nvSpPr>
        <p:spPr>
          <a:xfrm>
            <a:off x="548640" y="4445000"/>
            <a:ext cx="11094415" cy="259080"/>
          </a:xfrm>
          <a:prstGeom prst="rect">
            <a:avLst/>
          </a:prstGeom>
          <a:noFill/>
          <a:ln/>
        </p:spPr>
        <p:txBody>
          <a:bodyPr wrap="square" lIns="0" tIns="0" rIns="0" bIns="0" rtlCol="0" anchor="t"/>
          <a:lstStyle/>
          <a:p>
            <a:pPr indent="0" marL="0">
              <a:buNone/>
            </a:pPr>
            <a:r>
              <a:rPr lang="en-US" sz="1700" b="1" dirty="0">
                <a:solidFill>
                  <a:srgbClr val="B45309"/>
                </a:solidFill>
                <a:latin typeface="Arial" pitchFamily="34" charset="0"/>
                <a:ea typeface="Arial" pitchFamily="34" charset="-122"/>
                <a:cs typeface="Arial" pitchFamily="34" charset="-120"/>
              </a:rPr>
              <a:t>Why B: </a:t>
            </a:r>
            <a:pPr indent="0" marL="0">
              <a:buNone/>
            </a:pPr>
            <a:r>
              <a:rPr lang="en-US" sz="1700" dirty="0">
                <a:solidFill>
                  <a:srgbClr val="0F172A"/>
                </a:solidFill>
                <a:latin typeface="Arial" pitchFamily="34" charset="0"/>
                <a:ea typeface="Arial" pitchFamily="34" charset="-122"/>
                <a:cs typeface="Arial" pitchFamily="34" charset="-120"/>
              </a:rPr>
              <a:t>the names become official, and the community still decides each one.</a:t>
            </a:r>
            <a:endParaRPr lang="en-US" sz="1700" dirty="0"/>
          </a:p>
        </p:txBody>
      </p:sp>
      <p:sp>
        <p:nvSpPr>
          <p:cNvPr id="13" name="first draft note"/>
          <p:cNvSpPr/>
          <p:nvPr/>
        </p:nvSpPr>
        <p:spPr>
          <a:xfrm>
            <a:off x="548640" y="4841240"/>
            <a:ext cx="11094415" cy="457200"/>
          </a:xfrm>
          <a:prstGeom prst="roundRect">
            <a:avLst>
              <a:gd name="adj" fmla="val 16000"/>
            </a:avLst>
          </a:prstGeom>
          <a:solidFill>
            <a:srgbClr val="FEF3C7"/>
          </a:solidFill>
          <a:ln w="15875">
            <a:solidFill>
              <a:srgbClr val="F59E0B"/>
            </a:solidFill>
            <a:prstDash val="dash"/>
          </a:ln>
        </p:spPr>
      </p:sp>
      <p:sp>
        <p:nvSpPr>
          <p:cNvPr id="14" name="Text 12"/>
          <p:cNvSpPr txBox="1"/>
          <p:nvPr/>
        </p:nvSpPr>
        <p:spPr>
          <a:xfrm>
            <a:off x="731520" y="4841240"/>
            <a:ext cx="10728655" cy="457200"/>
          </a:xfrm>
          <a:prstGeom prst="rect">
            <a:avLst/>
          </a:prstGeom>
          <a:noFill/>
          <a:ln/>
        </p:spPr>
        <p:txBody>
          <a:bodyPr wrap="square" lIns="0" tIns="0" rIns="0" bIns="0" rtlCol="0" anchor="ctr"/>
          <a:lstStyle/>
          <a:p>
            <a:pPr indent="0" marL="0">
              <a:buNone/>
            </a:pPr>
            <a:r>
              <a:rPr lang="en-US" sz="1400" dirty="0">
                <a:solidFill>
                  <a:srgbClr val="0F172A"/>
                </a:solidFill>
                <a:latin typeface="Arial" pitchFamily="34" charset="0"/>
                <a:ea typeface="Arial" pitchFamily="34" charset="-122"/>
                <a:cs typeface="Arial" pitchFamily="34" charset="-120"/>
              </a:rPr>
              <a:t>📝 First draft: today's choices become final only when we sign a written agreement with the HTO.</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DECISION 3 OF 6</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How exact should the locations be?</a:t>
            </a:r>
            <a:endParaRPr lang="en-US" sz="3200" dirty="0"/>
          </a:p>
        </p:txBody>
      </p:sp>
      <p:sp>
        <p:nvSpPr>
          <p:cNvPr id="4" name="box Exact GPS points"/>
          <p:cNvSpPr/>
          <p:nvPr/>
        </p:nvSpPr>
        <p:spPr>
          <a:xfrm>
            <a:off x="548640" y="1582928"/>
            <a:ext cx="3515258" cy="2374392"/>
          </a:xfrm>
          <a:prstGeom prst="roundRect">
            <a:avLst>
              <a:gd name="adj" fmla="val 4621"/>
            </a:avLst>
          </a:prstGeom>
          <a:solidFill>
            <a:srgbClr val="EEF4F8"/>
          </a:solidFill>
          <a:ln w="12700">
            <a:solidFill>
              <a:srgbClr val="EEF4F8"/>
            </a:solidFill>
            <a:prstDash val="solid"/>
          </a:ln>
        </p:spPr>
      </p:sp>
      <p:sp>
        <p:nvSpPr>
          <p:cNvPr id="5" name="Text 3"/>
          <p:cNvSpPr txBox="1"/>
          <p:nvPr/>
        </p:nvSpPr>
        <p:spPr>
          <a:xfrm>
            <a:off x="749808" y="1784096"/>
            <a:ext cx="3112922" cy="197205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A</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Exact GPS points</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Most useful to scientists.</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Shows exact spots, which may include private places.</a:t>
            </a:r>
            <a:endParaRPr lang="en-US" sz="1100" dirty="0"/>
          </a:p>
        </p:txBody>
      </p:sp>
      <p:sp>
        <p:nvSpPr>
          <p:cNvPr id="6" name="box The place name only"/>
          <p:cNvSpPr/>
          <p:nvPr/>
        </p:nvSpPr>
        <p:spPr>
          <a:xfrm>
            <a:off x="4338218" y="1582928"/>
            <a:ext cx="3515258" cy="2374392"/>
          </a:xfrm>
          <a:prstGeom prst="roundRect">
            <a:avLst>
              <a:gd name="adj" fmla="val 4621"/>
            </a:avLst>
          </a:prstGeom>
          <a:solidFill>
            <a:srgbClr val="FEF3C7"/>
          </a:solidFill>
          <a:ln w="19050">
            <a:solidFill>
              <a:srgbClr val="F59E0B"/>
            </a:solidFill>
            <a:prstDash val="solid"/>
          </a:ln>
        </p:spPr>
      </p:sp>
      <p:sp>
        <p:nvSpPr>
          <p:cNvPr id="7" name="Text 5"/>
          <p:cNvSpPr txBox="1"/>
          <p:nvPr/>
        </p:nvSpPr>
        <p:spPr>
          <a:xfrm>
            <a:off x="4539386" y="1784096"/>
            <a:ext cx="3112922" cy="197205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B</a:t>
            </a:r>
            <a:endParaRPr lang="en-US" sz="1100" dirty="0"/>
          </a:p>
          <a:p>
            <a:pPr indent="0" marL="0">
              <a:spcAft>
                <a:spcPts val="600"/>
              </a:spcAft>
              <a:buNone/>
            </a:pPr>
            <a:r>
              <a:rPr lang="en-US" sz="1800" b="1" dirty="0">
                <a:solidFill>
                  <a:srgbClr val="B45309"/>
                </a:solidFill>
                <a:latin typeface="Arial" pitchFamily="34" charset="0"/>
                <a:ea typeface="Arial" pitchFamily="34" charset="-122"/>
                <a:cs typeface="Arial" pitchFamily="34" charset="-120"/>
              </a:rPr>
              <a:t>The place name only</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"Itivia" or "Puirsuk (1st Lake)". These are already on our website.</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Less exact for scientists.</a:t>
            </a:r>
            <a:endParaRPr lang="en-US" sz="1100" dirty="0"/>
          </a:p>
        </p:txBody>
      </p:sp>
      <p:sp>
        <p:nvSpPr>
          <p:cNvPr id="8" name="suggestion badge"/>
          <p:cNvSpPr/>
          <p:nvPr/>
        </p:nvSpPr>
        <p:spPr>
          <a:xfrm>
            <a:off x="5978957" y="1427480"/>
            <a:ext cx="1691640" cy="310896"/>
          </a:xfrm>
          <a:prstGeom prst="roundRect">
            <a:avLst>
              <a:gd name="adj" fmla="val 50000"/>
            </a:avLst>
          </a:prstGeom>
          <a:solidFill>
            <a:srgbClr val="F59E0B"/>
          </a:solidFill>
          <a:ln w="12700">
            <a:solidFill>
              <a:srgbClr val="F59E0B"/>
            </a:solidFill>
            <a:prstDash val="solid"/>
          </a:ln>
        </p:spPr>
      </p:sp>
      <p:sp>
        <p:nvSpPr>
          <p:cNvPr id="9" name="Text 7"/>
          <p:cNvSpPr txBox="1"/>
          <p:nvPr/>
        </p:nvSpPr>
        <p:spPr>
          <a:xfrm>
            <a:off x="5978957" y="1427480"/>
            <a:ext cx="1691640" cy="310896"/>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 Our suggestion</a:t>
            </a:r>
            <a:endParaRPr lang="en-US" sz="1200" dirty="0"/>
          </a:p>
        </p:txBody>
      </p:sp>
      <p:sp>
        <p:nvSpPr>
          <p:cNvPr id="10" name="box &quot;Chesterfield Inlet&quot; only"/>
          <p:cNvSpPr/>
          <p:nvPr/>
        </p:nvSpPr>
        <p:spPr>
          <a:xfrm>
            <a:off x="8127797" y="1582928"/>
            <a:ext cx="3515258" cy="2374392"/>
          </a:xfrm>
          <a:prstGeom prst="roundRect">
            <a:avLst>
              <a:gd name="adj" fmla="val 4621"/>
            </a:avLst>
          </a:prstGeom>
          <a:solidFill>
            <a:srgbClr val="EEF4F8"/>
          </a:solidFill>
          <a:ln w="12700">
            <a:solidFill>
              <a:srgbClr val="EEF4F8"/>
            </a:solidFill>
            <a:prstDash val="solid"/>
          </a:ln>
        </p:spPr>
      </p:sp>
      <p:sp>
        <p:nvSpPr>
          <p:cNvPr id="11" name="Text 9"/>
          <p:cNvSpPr txBox="1"/>
          <p:nvPr/>
        </p:nvSpPr>
        <p:spPr>
          <a:xfrm>
            <a:off x="8328965" y="1784096"/>
            <a:ext cx="3112922" cy="197205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C</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"Chesterfield Inlet" only</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Shares the least detail.</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Loses the difference between sea and lake.</a:t>
            </a:r>
            <a:endParaRPr lang="en-US" sz="1100" dirty="0"/>
          </a:p>
        </p:txBody>
      </p:sp>
      <p:sp>
        <p:nvSpPr>
          <p:cNvPr id="12" name="Text 10"/>
          <p:cNvSpPr txBox="1"/>
          <p:nvPr/>
        </p:nvSpPr>
        <p:spPr>
          <a:xfrm>
            <a:off x="548640" y="4231640"/>
            <a:ext cx="11094415" cy="518160"/>
          </a:xfrm>
          <a:prstGeom prst="rect">
            <a:avLst/>
          </a:prstGeom>
          <a:noFill/>
          <a:ln/>
        </p:spPr>
        <p:txBody>
          <a:bodyPr wrap="square" lIns="0" tIns="0" rIns="0" bIns="0" rtlCol="0" anchor="t"/>
          <a:lstStyle/>
          <a:p>
            <a:pPr indent="0" marL="0">
              <a:buNone/>
            </a:pPr>
            <a:r>
              <a:rPr lang="en-US" sz="1700" b="1" dirty="0">
                <a:solidFill>
                  <a:srgbClr val="B45309"/>
                </a:solidFill>
                <a:latin typeface="Arial" pitchFamily="34" charset="0"/>
                <a:ea typeface="Arial" pitchFamily="34" charset="-122"/>
                <a:cs typeface="Arial" pitchFamily="34" charset="-120"/>
              </a:rPr>
              <a:t>Why B: </a:t>
            </a:r>
            <a:pPr indent="0" marL="0">
              <a:buNone/>
            </a:pPr>
            <a:r>
              <a:rPr lang="en-US" sz="1700" dirty="0">
                <a:solidFill>
                  <a:srgbClr val="0F172A"/>
                </a:solidFill>
                <a:latin typeface="Arial" pitchFamily="34" charset="0"/>
                <a:ea typeface="Arial" pitchFamily="34" charset="-122"/>
                <a:cs typeface="Arial" pitchFamily="34" charset="-120"/>
              </a:rPr>
              <a:t>it uses Inuktitut place names, shows nothing new, and still tells scientists whether a microbe lives in the sea or a lake.</a:t>
            </a:r>
            <a:endParaRPr lang="en-US" sz="1700" dirty="0"/>
          </a:p>
        </p:txBody>
      </p:sp>
      <p:sp>
        <p:nvSpPr>
          <p:cNvPr id="13" name="first draft note"/>
          <p:cNvSpPr/>
          <p:nvPr/>
        </p:nvSpPr>
        <p:spPr>
          <a:xfrm>
            <a:off x="548640" y="4886960"/>
            <a:ext cx="11094415" cy="457200"/>
          </a:xfrm>
          <a:prstGeom prst="roundRect">
            <a:avLst>
              <a:gd name="adj" fmla="val 16000"/>
            </a:avLst>
          </a:prstGeom>
          <a:solidFill>
            <a:srgbClr val="FEF3C7"/>
          </a:solidFill>
          <a:ln w="15875">
            <a:solidFill>
              <a:srgbClr val="F59E0B"/>
            </a:solidFill>
            <a:prstDash val="dash"/>
          </a:ln>
        </p:spPr>
      </p:sp>
      <p:sp>
        <p:nvSpPr>
          <p:cNvPr id="14" name="Text 12"/>
          <p:cNvSpPr txBox="1"/>
          <p:nvPr/>
        </p:nvSpPr>
        <p:spPr>
          <a:xfrm>
            <a:off x="731520" y="4886960"/>
            <a:ext cx="10728655" cy="457200"/>
          </a:xfrm>
          <a:prstGeom prst="rect">
            <a:avLst/>
          </a:prstGeom>
          <a:noFill/>
          <a:ln/>
        </p:spPr>
        <p:txBody>
          <a:bodyPr wrap="square" lIns="0" tIns="0" rIns="0" bIns="0" rtlCol="0" anchor="ctr"/>
          <a:lstStyle/>
          <a:p>
            <a:pPr indent="0" marL="0">
              <a:buNone/>
            </a:pPr>
            <a:r>
              <a:rPr lang="en-US" sz="1400" dirty="0">
                <a:solidFill>
                  <a:srgbClr val="0F172A"/>
                </a:solidFill>
                <a:latin typeface="Arial" pitchFamily="34" charset="0"/>
                <a:ea typeface="Arial" pitchFamily="34" charset="-122"/>
                <a:cs typeface="Arial" pitchFamily="34" charset="-120"/>
              </a:rPr>
              <a:t>📝 First draft: today's choices become final only when we sign a written agreement with the HTO.</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DECISION 4 OF 6</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Who gets credit for each name?</a:t>
            </a:r>
            <a:endParaRPr lang="en-US" sz="3200" dirty="0"/>
          </a:p>
        </p:txBody>
      </p:sp>
      <p:sp>
        <p:nvSpPr>
          <p:cNvPr id="4" name="box Only the person who suggested it"/>
          <p:cNvSpPr/>
          <p:nvPr/>
        </p:nvSpPr>
        <p:spPr>
          <a:xfrm>
            <a:off x="548640" y="1582928"/>
            <a:ext cx="3515258" cy="2587752"/>
          </a:xfrm>
          <a:prstGeom prst="roundRect">
            <a:avLst>
              <a:gd name="adj" fmla="val 4240"/>
            </a:avLst>
          </a:prstGeom>
          <a:solidFill>
            <a:srgbClr val="EEF4F8"/>
          </a:solidFill>
          <a:ln w="12700">
            <a:solidFill>
              <a:srgbClr val="EEF4F8"/>
            </a:solidFill>
            <a:prstDash val="solid"/>
          </a:ln>
        </p:spPr>
      </p:sp>
      <p:sp>
        <p:nvSpPr>
          <p:cNvPr id="5" name="Text 3"/>
          <p:cNvSpPr txBox="1"/>
          <p:nvPr/>
        </p:nvSpPr>
        <p:spPr>
          <a:xfrm>
            <a:off x="749808" y="1784096"/>
            <a:ext cx="3112922" cy="218541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A</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Only the person who suggested it</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Honours that person.</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Leaves out everyone who helped.</a:t>
            </a:r>
            <a:endParaRPr lang="en-US" sz="1100" dirty="0"/>
          </a:p>
        </p:txBody>
      </p:sp>
      <p:sp>
        <p:nvSpPr>
          <p:cNvPr id="6" name="box Only &quot;the people of Igluligaarjuk&quot;"/>
          <p:cNvSpPr/>
          <p:nvPr/>
        </p:nvSpPr>
        <p:spPr>
          <a:xfrm>
            <a:off x="4338218" y="1582928"/>
            <a:ext cx="3515258" cy="2587752"/>
          </a:xfrm>
          <a:prstGeom prst="roundRect">
            <a:avLst>
              <a:gd name="adj" fmla="val 4240"/>
            </a:avLst>
          </a:prstGeom>
          <a:solidFill>
            <a:srgbClr val="EEF4F8"/>
          </a:solidFill>
          <a:ln w="12700">
            <a:solidFill>
              <a:srgbClr val="EEF4F8"/>
            </a:solidFill>
            <a:prstDash val="solid"/>
          </a:ln>
        </p:spPr>
      </p:sp>
      <p:sp>
        <p:nvSpPr>
          <p:cNvPr id="7" name="Text 5"/>
          <p:cNvSpPr txBox="1"/>
          <p:nvPr/>
        </p:nvSpPr>
        <p:spPr>
          <a:xfrm>
            <a:off x="4539386" y="1784096"/>
            <a:ext cx="3112922" cy="218541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B</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Only "the people of Igluligaarjuk"</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Everyone shares it.</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People who want their own name on it can't have it.</a:t>
            </a:r>
            <a:endParaRPr lang="en-US" sz="1100" dirty="0"/>
          </a:p>
        </p:txBody>
      </p:sp>
      <p:sp>
        <p:nvSpPr>
          <p:cNvPr id="8" name="box Both"/>
          <p:cNvSpPr/>
          <p:nvPr/>
        </p:nvSpPr>
        <p:spPr>
          <a:xfrm>
            <a:off x="8127797" y="1582928"/>
            <a:ext cx="3515258" cy="2587752"/>
          </a:xfrm>
          <a:prstGeom prst="roundRect">
            <a:avLst>
              <a:gd name="adj" fmla="val 4240"/>
            </a:avLst>
          </a:prstGeom>
          <a:solidFill>
            <a:srgbClr val="FEF3C7"/>
          </a:solidFill>
          <a:ln w="19050">
            <a:solidFill>
              <a:srgbClr val="F59E0B"/>
            </a:solidFill>
            <a:prstDash val="solid"/>
          </a:ln>
        </p:spPr>
      </p:sp>
      <p:sp>
        <p:nvSpPr>
          <p:cNvPr id="9" name="Text 7"/>
          <p:cNvSpPr txBox="1"/>
          <p:nvPr/>
        </p:nvSpPr>
        <p:spPr>
          <a:xfrm>
            <a:off x="8328965" y="1784096"/>
            <a:ext cx="3112922" cy="218541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C</a:t>
            </a:r>
            <a:endParaRPr lang="en-US" sz="1100" dirty="0"/>
          </a:p>
          <a:p>
            <a:pPr indent="0" marL="0">
              <a:spcAft>
                <a:spcPts val="600"/>
              </a:spcAft>
              <a:buNone/>
            </a:pPr>
            <a:r>
              <a:rPr lang="en-US" sz="1800" b="1" dirty="0">
                <a:solidFill>
                  <a:srgbClr val="B45309"/>
                </a:solidFill>
                <a:latin typeface="Arial" pitchFamily="34" charset="0"/>
                <a:ea typeface="Arial" pitchFamily="34" charset="-122"/>
                <a:cs typeface="Arial" pitchFamily="34" charset="-120"/>
              </a:rPr>
              <a:t>Both</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The community is always named. Each person can also be named, if they want to be.</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One more question on the consent form.</a:t>
            </a:r>
            <a:endParaRPr lang="en-US" sz="1100" dirty="0"/>
          </a:p>
        </p:txBody>
      </p:sp>
      <p:sp>
        <p:nvSpPr>
          <p:cNvPr id="10" name="suggestion badge"/>
          <p:cNvSpPr/>
          <p:nvPr/>
        </p:nvSpPr>
        <p:spPr>
          <a:xfrm>
            <a:off x="9768535" y="1427480"/>
            <a:ext cx="1691640" cy="310896"/>
          </a:xfrm>
          <a:prstGeom prst="roundRect">
            <a:avLst>
              <a:gd name="adj" fmla="val 50000"/>
            </a:avLst>
          </a:prstGeom>
          <a:solidFill>
            <a:srgbClr val="F59E0B"/>
          </a:solidFill>
          <a:ln w="12700">
            <a:solidFill>
              <a:srgbClr val="F59E0B"/>
            </a:solidFill>
            <a:prstDash val="solid"/>
          </a:ln>
        </p:spPr>
      </p:sp>
      <p:sp>
        <p:nvSpPr>
          <p:cNvPr id="11" name="Text 9"/>
          <p:cNvSpPr txBox="1"/>
          <p:nvPr/>
        </p:nvSpPr>
        <p:spPr>
          <a:xfrm>
            <a:off x="9768535" y="1427480"/>
            <a:ext cx="1691640" cy="310896"/>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 Our suggestion</a:t>
            </a:r>
            <a:endParaRPr lang="en-US" sz="1200" dirty="0"/>
          </a:p>
        </p:txBody>
      </p:sp>
      <p:sp>
        <p:nvSpPr>
          <p:cNvPr id="12" name="Text 10"/>
          <p:cNvSpPr txBox="1"/>
          <p:nvPr/>
        </p:nvSpPr>
        <p:spPr>
          <a:xfrm>
            <a:off x="548640" y="4445000"/>
            <a:ext cx="11094415" cy="259080"/>
          </a:xfrm>
          <a:prstGeom prst="rect">
            <a:avLst/>
          </a:prstGeom>
          <a:noFill/>
          <a:ln/>
        </p:spPr>
        <p:txBody>
          <a:bodyPr wrap="square" lIns="0" tIns="0" rIns="0" bIns="0" rtlCol="0" anchor="t"/>
          <a:lstStyle/>
          <a:p>
            <a:pPr indent="0" marL="0">
              <a:buNone/>
            </a:pPr>
            <a:r>
              <a:rPr lang="en-US" sz="1700" b="1" dirty="0">
                <a:solidFill>
                  <a:srgbClr val="B45309"/>
                </a:solidFill>
                <a:latin typeface="Arial" pitchFamily="34" charset="0"/>
                <a:ea typeface="Arial" pitchFamily="34" charset="-122"/>
                <a:cs typeface="Arial" pitchFamily="34" charset="-120"/>
              </a:rPr>
              <a:t>Why C: </a:t>
            </a:r>
            <a:pPr indent="0" marL="0">
              <a:buNone/>
            </a:pPr>
            <a:r>
              <a:rPr lang="en-US" sz="1700" dirty="0">
                <a:solidFill>
                  <a:srgbClr val="0F172A"/>
                </a:solidFill>
                <a:latin typeface="Arial" pitchFamily="34" charset="0"/>
                <a:ea typeface="Arial" pitchFamily="34" charset="-122"/>
                <a:cs typeface="Arial" pitchFamily="34" charset="-120"/>
              </a:rPr>
              <a:t>the community always gets credit, and nobody is named who doesn't want to be.</a:t>
            </a:r>
            <a:endParaRPr lang="en-US" sz="1700" dirty="0"/>
          </a:p>
        </p:txBody>
      </p:sp>
      <p:sp>
        <p:nvSpPr>
          <p:cNvPr id="13" name="first draft note"/>
          <p:cNvSpPr/>
          <p:nvPr/>
        </p:nvSpPr>
        <p:spPr>
          <a:xfrm>
            <a:off x="548640" y="4841240"/>
            <a:ext cx="11094415" cy="457200"/>
          </a:xfrm>
          <a:prstGeom prst="roundRect">
            <a:avLst>
              <a:gd name="adj" fmla="val 16000"/>
            </a:avLst>
          </a:prstGeom>
          <a:solidFill>
            <a:srgbClr val="FEF3C7"/>
          </a:solidFill>
          <a:ln w="15875">
            <a:solidFill>
              <a:srgbClr val="F59E0B"/>
            </a:solidFill>
            <a:prstDash val="dash"/>
          </a:ln>
        </p:spPr>
      </p:sp>
      <p:sp>
        <p:nvSpPr>
          <p:cNvPr id="14" name="Text 12"/>
          <p:cNvSpPr txBox="1"/>
          <p:nvPr/>
        </p:nvSpPr>
        <p:spPr>
          <a:xfrm>
            <a:off x="731520" y="4841240"/>
            <a:ext cx="10728655" cy="457200"/>
          </a:xfrm>
          <a:prstGeom prst="rect">
            <a:avLst/>
          </a:prstGeom>
          <a:noFill/>
          <a:ln/>
        </p:spPr>
        <p:txBody>
          <a:bodyPr wrap="square" lIns="0" tIns="0" rIns="0" bIns="0" rtlCol="0" anchor="ctr"/>
          <a:lstStyle/>
          <a:p>
            <a:pPr indent="0" marL="0">
              <a:buNone/>
            </a:pPr>
            <a:r>
              <a:rPr lang="en-US" sz="1400" dirty="0">
                <a:solidFill>
                  <a:srgbClr val="0F172A"/>
                </a:solidFill>
                <a:latin typeface="Arial" pitchFamily="34" charset="0"/>
                <a:ea typeface="Arial" pitchFamily="34" charset="-122"/>
                <a:cs typeface="Arial" pitchFamily="34" charset="-120"/>
              </a:rPr>
              <a:t>📝 First draft: today's choices become final only when we sign a written agreement with the HTO.</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DECISION 5 OF 6</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What happens to the water samples and DNA?</a:t>
            </a:r>
            <a:endParaRPr lang="en-US" sz="3200" dirty="0"/>
          </a:p>
        </p:txBody>
      </p:sp>
      <p:sp>
        <p:nvSpPr>
          <p:cNvPr id="4" name="box Kept frozen at the university, owned by the community"/>
          <p:cNvSpPr/>
          <p:nvPr/>
        </p:nvSpPr>
        <p:spPr>
          <a:xfrm>
            <a:off x="548640" y="1582928"/>
            <a:ext cx="3515258" cy="2892552"/>
          </a:xfrm>
          <a:prstGeom prst="roundRect">
            <a:avLst>
              <a:gd name="adj" fmla="val 3793"/>
            </a:avLst>
          </a:prstGeom>
          <a:solidFill>
            <a:srgbClr val="FEF3C7"/>
          </a:solidFill>
          <a:ln w="19050">
            <a:solidFill>
              <a:srgbClr val="F59E0B"/>
            </a:solidFill>
            <a:prstDash val="solid"/>
          </a:ln>
        </p:spPr>
      </p:sp>
      <p:sp>
        <p:nvSpPr>
          <p:cNvPr id="5" name="Text 3"/>
          <p:cNvSpPr txBox="1"/>
          <p:nvPr/>
        </p:nvSpPr>
        <p:spPr>
          <a:xfrm>
            <a:off x="749808" y="1784096"/>
            <a:ext cx="3112922" cy="249021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A</a:t>
            </a:r>
            <a:endParaRPr lang="en-US" sz="1100" dirty="0"/>
          </a:p>
          <a:p>
            <a:pPr indent="0" marL="0">
              <a:spcAft>
                <a:spcPts val="600"/>
              </a:spcAft>
              <a:buNone/>
            </a:pPr>
            <a:r>
              <a:rPr lang="en-US" sz="1800" b="1" dirty="0">
                <a:solidFill>
                  <a:srgbClr val="B45309"/>
                </a:solidFill>
                <a:latin typeface="Arial" pitchFamily="34" charset="0"/>
                <a:ea typeface="Arial" pitchFamily="34" charset="-122"/>
                <a:cs typeface="Arial" pitchFamily="34" charset="-120"/>
              </a:rPr>
              <a:t>Kept frozen at the university, owned by the community</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They stay safe in the special freezers they need. Any new use needs the data group's permission.</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They are far away.</a:t>
            </a:r>
            <a:endParaRPr lang="en-US" sz="1100" dirty="0"/>
          </a:p>
        </p:txBody>
      </p:sp>
      <p:sp>
        <p:nvSpPr>
          <p:cNvPr id="6" name="suggestion badge"/>
          <p:cNvSpPr/>
          <p:nvPr/>
        </p:nvSpPr>
        <p:spPr>
          <a:xfrm>
            <a:off x="2189378" y="1427480"/>
            <a:ext cx="1691640" cy="310896"/>
          </a:xfrm>
          <a:prstGeom prst="roundRect">
            <a:avLst>
              <a:gd name="adj" fmla="val 50000"/>
            </a:avLst>
          </a:prstGeom>
          <a:solidFill>
            <a:srgbClr val="F59E0B"/>
          </a:solidFill>
          <a:ln w="12700">
            <a:solidFill>
              <a:srgbClr val="F59E0B"/>
            </a:solidFill>
            <a:prstDash val="solid"/>
          </a:ln>
        </p:spPr>
      </p:sp>
      <p:sp>
        <p:nvSpPr>
          <p:cNvPr id="7" name="Text 5"/>
          <p:cNvSpPr txBox="1"/>
          <p:nvPr/>
        </p:nvSpPr>
        <p:spPr>
          <a:xfrm>
            <a:off x="2189378" y="1427480"/>
            <a:ext cx="1691640" cy="310896"/>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 Our suggestion</a:t>
            </a:r>
            <a:endParaRPr lang="en-US" sz="1200" dirty="0"/>
          </a:p>
        </p:txBody>
      </p:sp>
      <p:sp>
        <p:nvSpPr>
          <p:cNvPr id="8" name="box Sent back to Igluligaarjuk"/>
          <p:cNvSpPr/>
          <p:nvPr/>
        </p:nvSpPr>
        <p:spPr>
          <a:xfrm>
            <a:off x="4338218" y="1582928"/>
            <a:ext cx="3515258" cy="2892552"/>
          </a:xfrm>
          <a:prstGeom prst="roundRect">
            <a:avLst>
              <a:gd name="adj" fmla="val 3793"/>
            </a:avLst>
          </a:prstGeom>
          <a:solidFill>
            <a:srgbClr val="EEF4F8"/>
          </a:solidFill>
          <a:ln w="12700">
            <a:solidFill>
              <a:srgbClr val="EEF4F8"/>
            </a:solidFill>
            <a:prstDash val="solid"/>
          </a:ln>
        </p:spPr>
      </p:sp>
      <p:sp>
        <p:nvSpPr>
          <p:cNvPr id="9" name="Text 7"/>
          <p:cNvSpPr txBox="1"/>
          <p:nvPr/>
        </p:nvSpPr>
        <p:spPr>
          <a:xfrm>
            <a:off x="4539386" y="1784096"/>
            <a:ext cx="3112922" cy="249021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B</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Sent back to Igluligaarjuk</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Physically here.</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DNA spoils without a very cold freezer (−80 °C).</a:t>
            </a:r>
            <a:endParaRPr lang="en-US" sz="1100" dirty="0"/>
          </a:p>
        </p:txBody>
      </p:sp>
      <p:sp>
        <p:nvSpPr>
          <p:cNvPr id="10" name="box Destroyed when the project ends"/>
          <p:cNvSpPr/>
          <p:nvPr/>
        </p:nvSpPr>
        <p:spPr>
          <a:xfrm>
            <a:off x="8127797" y="1582928"/>
            <a:ext cx="3515258" cy="2892552"/>
          </a:xfrm>
          <a:prstGeom prst="roundRect">
            <a:avLst>
              <a:gd name="adj" fmla="val 3793"/>
            </a:avLst>
          </a:prstGeom>
          <a:solidFill>
            <a:srgbClr val="EEF4F8"/>
          </a:solidFill>
          <a:ln w="12700">
            <a:solidFill>
              <a:srgbClr val="EEF4F8"/>
            </a:solidFill>
            <a:prstDash val="solid"/>
          </a:ln>
        </p:spPr>
      </p:sp>
      <p:sp>
        <p:nvSpPr>
          <p:cNvPr id="11" name="Text 9"/>
          <p:cNvSpPr txBox="1"/>
          <p:nvPr/>
        </p:nvSpPr>
        <p:spPr>
          <a:xfrm>
            <a:off x="8328965" y="1784096"/>
            <a:ext cx="3112922" cy="249021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C</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Destroyed when the project ends</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Nobody can ever misuse them.</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No future studies, even ones the community wants.</a:t>
            </a:r>
            <a:endParaRPr lang="en-US" sz="1100" dirty="0"/>
          </a:p>
        </p:txBody>
      </p:sp>
      <p:sp>
        <p:nvSpPr>
          <p:cNvPr id="12" name="Text 10"/>
          <p:cNvSpPr txBox="1"/>
          <p:nvPr/>
        </p:nvSpPr>
        <p:spPr>
          <a:xfrm>
            <a:off x="548640" y="4749800"/>
            <a:ext cx="11094415" cy="518160"/>
          </a:xfrm>
          <a:prstGeom prst="rect">
            <a:avLst/>
          </a:prstGeom>
          <a:noFill/>
          <a:ln/>
        </p:spPr>
        <p:txBody>
          <a:bodyPr wrap="square" lIns="0" tIns="0" rIns="0" bIns="0" rtlCol="0" anchor="t"/>
          <a:lstStyle/>
          <a:p>
            <a:pPr indent="0" marL="0">
              <a:buNone/>
            </a:pPr>
            <a:r>
              <a:rPr lang="en-US" sz="1700" b="1" dirty="0">
                <a:solidFill>
                  <a:srgbClr val="B45309"/>
                </a:solidFill>
                <a:latin typeface="Arial" pitchFamily="34" charset="0"/>
                <a:ea typeface="Arial" pitchFamily="34" charset="-122"/>
                <a:cs typeface="Arial" pitchFamily="34" charset="-120"/>
              </a:rPr>
              <a:t>Why A: </a:t>
            </a:r>
            <a:pPr indent="0" marL="0">
              <a:buNone/>
            </a:pPr>
            <a:r>
              <a:rPr lang="en-US" sz="1700" dirty="0">
                <a:solidFill>
                  <a:srgbClr val="0F172A"/>
                </a:solidFill>
                <a:latin typeface="Arial" pitchFamily="34" charset="0"/>
                <a:ea typeface="Arial" pitchFamily="34" charset="-122"/>
                <a:cs typeface="Arial" pitchFamily="34" charset="-120"/>
              </a:rPr>
              <a:t>the samples stay usable for the community's future questions. The community can still ask for them to be destroyed at any time.</a:t>
            </a:r>
            <a:endParaRPr lang="en-US" sz="1700" dirty="0"/>
          </a:p>
        </p:txBody>
      </p:sp>
      <p:sp>
        <p:nvSpPr>
          <p:cNvPr id="13" name="first draft note"/>
          <p:cNvSpPr/>
          <p:nvPr/>
        </p:nvSpPr>
        <p:spPr>
          <a:xfrm>
            <a:off x="548640" y="5405120"/>
            <a:ext cx="11094415" cy="457200"/>
          </a:xfrm>
          <a:prstGeom prst="roundRect">
            <a:avLst>
              <a:gd name="adj" fmla="val 16000"/>
            </a:avLst>
          </a:prstGeom>
          <a:solidFill>
            <a:srgbClr val="FEF3C7"/>
          </a:solidFill>
          <a:ln w="15875">
            <a:solidFill>
              <a:srgbClr val="F59E0B"/>
            </a:solidFill>
            <a:prstDash val="dash"/>
          </a:ln>
        </p:spPr>
      </p:sp>
      <p:sp>
        <p:nvSpPr>
          <p:cNvPr id="14" name="Text 12"/>
          <p:cNvSpPr txBox="1"/>
          <p:nvPr/>
        </p:nvSpPr>
        <p:spPr>
          <a:xfrm>
            <a:off x="731520" y="5405120"/>
            <a:ext cx="10728655" cy="457200"/>
          </a:xfrm>
          <a:prstGeom prst="rect">
            <a:avLst/>
          </a:prstGeom>
          <a:noFill/>
          <a:ln/>
        </p:spPr>
        <p:txBody>
          <a:bodyPr wrap="square" lIns="0" tIns="0" rIns="0" bIns="0" rtlCol="0" anchor="ctr"/>
          <a:lstStyle/>
          <a:p>
            <a:pPr indent="0" marL="0">
              <a:buNone/>
            </a:pPr>
            <a:r>
              <a:rPr lang="en-US" sz="1400" dirty="0">
                <a:solidFill>
                  <a:srgbClr val="0F172A"/>
                </a:solidFill>
                <a:latin typeface="Arial" pitchFamily="34" charset="0"/>
                <a:ea typeface="Arial" pitchFamily="34" charset="-122"/>
                <a:cs typeface="Arial" pitchFamily="34" charset="-120"/>
              </a:rPr>
              <a:t>📝 First draft: today's choices become final only when we sign a written agreement with the HTO.</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DECISION 6 OF 6</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Where do we keep the community's copy of the results?</a:t>
            </a:r>
            <a:endParaRPr lang="en-US" sz="3200" dirty="0"/>
          </a:p>
        </p:txBody>
      </p:sp>
      <p:sp>
        <p:nvSpPr>
          <p:cNvPr id="4" name="box Paper reports at the HTO and the school"/>
          <p:cNvSpPr/>
          <p:nvPr/>
        </p:nvSpPr>
        <p:spPr>
          <a:xfrm>
            <a:off x="548640" y="2050288"/>
            <a:ext cx="3515258" cy="2618232"/>
          </a:xfrm>
          <a:prstGeom prst="roundRect">
            <a:avLst>
              <a:gd name="adj" fmla="val 4191"/>
            </a:avLst>
          </a:prstGeom>
          <a:solidFill>
            <a:srgbClr val="EEF4F8"/>
          </a:solidFill>
          <a:ln w="12700">
            <a:solidFill>
              <a:srgbClr val="EEF4F8"/>
            </a:solidFill>
            <a:prstDash val="solid"/>
          </a:ln>
        </p:spPr>
      </p:sp>
      <p:sp>
        <p:nvSpPr>
          <p:cNvPr id="5" name="Text 3"/>
          <p:cNvSpPr txBox="1"/>
          <p:nvPr/>
        </p:nvSpPr>
        <p:spPr>
          <a:xfrm>
            <a:off x="749808" y="2251456"/>
            <a:ext cx="3112922" cy="221589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A</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Paper reports at the HTO and the school</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Easy for anyone to read.</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Can't hold the full data.</a:t>
            </a:r>
            <a:endParaRPr lang="en-US" sz="1100" dirty="0"/>
          </a:p>
        </p:txBody>
      </p:sp>
      <p:sp>
        <p:nvSpPr>
          <p:cNvPr id="6" name="box Online only"/>
          <p:cNvSpPr/>
          <p:nvPr/>
        </p:nvSpPr>
        <p:spPr>
          <a:xfrm>
            <a:off x="4338218" y="2050288"/>
            <a:ext cx="3515258" cy="2618232"/>
          </a:xfrm>
          <a:prstGeom prst="roundRect">
            <a:avLst>
              <a:gd name="adj" fmla="val 4191"/>
            </a:avLst>
          </a:prstGeom>
          <a:solidFill>
            <a:srgbClr val="EEF4F8"/>
          </a:solidFill>
          <a:ln w="12700">
            <a:solidFill>
              <a:srgbClr val="EEF4F8"/>
            </a:solidFill>
            <a:prstDash val="solid"/>
          </a:ln>
        </p:spPr>
      </p:sp>
      <p:sp>
        <p:nvSpPr>
          <p:cNvPr id="7" name="Text 5"/>
          <p:cNvSpPr txBox="1"/>
          <p:nvPr/>
        </p:nvSpPr>
        <p:spPr>
          <a:xfrm>
            <a:off x="4539386" y="2251456"/>
            <a:ext cx="3112922" cy="221589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B</a:t>
            </a:r>
            <a:endParaRPr lang="en-US" sz="1100" dirty="0"/>
          </a:p>
          <a:p>
            <a:pPr indent="0" marL="0">
              <a:spcAft>
                <a:spcPts val="600"/>
              </a:spcAft>
              <a:buNone/>
            </a:pPr>
            <a:r>
              <a:rPr lang="en-US" sz="1800" b="1" dirty="0">
                <a:solidFill>
                  <a:srgbClr val="0B2A3F"/>
                </a:solidFill>
                <a:latin typeface="Arial" pitchFamily="34" charset="0"/>
                <a:ea typeface="Arial" pitchFamily="34" charset="-122"/>
                <a:cs typeface="Arial" pitchFamily="34" charset="-120"/>
              </a:rPr>
              <a:t>Online only</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Holds everything; easy to update.</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Hard to use with slow internet.</a:t>
            </a:r>
            <a:endParaRPr lang="en-US" sz="1100" dirty="0"/>
          </a:p>
        </p:txBody>
      </p:sp>
      <p:sp>
        <p:nvSpPr>
          <p:cNvPr id="8" name="box Both: paper here, full data online"/>
          <p:cNvSpPr/>
          <p:nvPr/>
        </p:nvSpPr>
        <p:spPr>
          <a:xfrm>
            <a:off x="8127797" y="2050288"/>
            <a:ext cx="3515258" cy="2618232"/>
          </a:xfrm>
          <a:prstGeom prst="roundRect">
            <a:avLst>
              <a:gd name="adj" fmla="val 4191"/>
            </a:avLst>
          </a:prstGeom>
          <a:solidFill>
            <a:srgbClr val="FEF3C7"/>
          </a:solidFill>
          <a:ln w="19050">
            <a:solidFill>
              <a:srgbClr val="F59E0B"/>
            </a:solidFill>
            <a:prstDash val="solid"/>
          </a:ln>
        </p:spPr>
      </p:sp>
      <p:sp>
        <p:nvSpPr>
          <p:cNvPr id="9" name="Text 7"/>
          <p:cNvSpPr txBox="1"/>
          <p:nvPr/>
        </p:nvSpPr>
        <p:spPr>
          <a:xfrm>
            <a:off x="8328965" y="2251456"/>
            <a:ext cx="3112922" cy="2215896"/>
          </a:xfrm>
          <a:prstGeom prst="rect">
            <a:avLst/>
          </a:prstGeom>
          <a:noFill/>
          <a:ln/>
        </p:spPr>
        <p:txBody>
          <a:bodyPr wrap="square" lIns="0" tIns="0" rIns="0" bIns="0" rtlCol="0" anchor="t">
            <a:normAutofit/>
          </a:bodyPr>
          <a:lstStyle/>
          <a:p>
            <a:pPr indent="0" marL="0">
              <a:spcAft>
                <a:spcPts val="200"/>
              </a:spcAft>
              <a:buNone/>
            </a:pPr>
            <a:r>
              <a:rPr lang="en-US" sz="1100" b="1" spc="100" kern="0" dirty="0">
                <a:solidFill>
                  <a:srgbClr val="475569"/>
                </a:solidFill>
                <a:latin typeface="Arial" pitchFamily="34" charset="0"/>
                <a:ea typeface="Arial" pitchFamily="34" charset="-122"/>
                <a:cs typeface="Arial" pitchFamily="34" charset="-120"/>
              </a:rPr>
              <a:t>OPTION C</a:t>
            </a:r>
            <a:endParaRPr lang="en-US" sz="1100" dirty="0"/>
          </a:p>
          <a:p>
            <a:pPr indent="0" marL="0">
              <a:spcAft>
                <a:spcPts val="600"/>
              </a:spcAft>
              <a:buNone/>
            </a:pPr>
            <a:r>
              <a:rPr lang="en-US" sz="1800" b="1" dirty="0">
                <a:solidFill>
                  <a:srgbClr val="B45309"/>
                </a:solidFill>
                <a:latin typeface="Arial" pitchFamily="34" charset="0"/>
                <a:ea typeface="Arial" pitchFamily="34" charset="-122"/>
                <a:cs typeface="Arial" pitchFamily="34" charset="-120"/>
              </a:rPr>
              <a:t>Both: paper here, full data online</a:t>
            </a:r>
            <a:endParaRPr lang="en-US" sz="1100" dirty="0"/>
          </a:p>
          <a:p>
            <a:pPr indent="0" marL="0">
              <a:buNone/>
            </a:pPr>
            <a:r>
              <a:rPr lang="en-US" sz="1600" b="1" dirty="0">
                <a:solidFill>
                  <a:srgbClr val="047857"/>
                </a:solidFill>
                <a:latin typeface="Arial" pitchFamily="34" charset="0"/>
                <a:ea typeface="Arial" pitchFamily="34" charset="-122"/>
                <a:cs typeface="Arial" pitchFamily="34" charset="-120"/>
              </a:rPr>
              <a:t>Good: </a:t>
            </a:r>
            <a:pPr indent="0" marL="0">
              <a:spcAft>
                <a:spcPts val="600"/>
              </a:spcAft>
              <a:buNone/>
            </a:pPr>
            <a:r>
              <a:rPr lang="en-US" sz="1600" dirty="0">
                <a:solidFill>
                  <a:srgbClr val="0F172A"/>
                </a:solidFill>
                <a:latin typeface="Arial" pitchFamily="34" charset="0"/>
                <a:ea typeface="Arial" pitchFamily="34" charset="-122"/>
                <a:cs typeface="Arial" pitchFamily="34" charset="-120"/>
              </a:rPr>
              <a:t>Everyone can read the results, and nothing is lost.</a:t>
            </a:r>
            <a:endParaRPr lang="en-US" sz="1100" dirty="0"/>
          </a:p>
          <a:p>
            <a:pPr indent="0" marL="0">
              <a:buNone/>
            </a:pPr>
            <a:r>
              <a:rPr lang="en-US" sz="1600" b="1" dirty="0">
                <a:solidFill>
                  <a:srgbClr val="BE123C"/>
                </a:solidFill>
                <a:latin typeface="Arial" pitchFamily="34" charset="0"/>
                <a:ea typeface="Arial" pitchFamily="34" charset="-122"/>
                <a:cs typeface="Arial" pitchFamily="34" charset="-120"/>
              </a:rPr>
              <a:t>Downside: </a:t>
            </a:r>
            <a:pPr indent="0" marL="0">
              <a:spcAft>
                <a:spcPts val="600"/>
              </a:spcAft>
              <a:buNone/>
            </a:pPr>
            <a:r>
              <a:rPr lang="en-US" sz="1600" dirty="0">
                <a:solidFill>
                  <a:srgbClr val="0F172A"/>
                </a:solidFill>
                <a:latin typeface="Arial" pitchFamily="34" charset="0"/>
                <a:ea typeface="Arial" pitchFamily="34" charset="-122"/>
                <a:cs typeface="Arial" pitchFamily="34" charset="-120"/>
              </a:rPr>
              <a:t>A little more work for the researchers.</a:t>
            </a:r>
            <a:endParaRPr lang="en-US" sz="1100" dirty="0"/>
          </a:p>
        </p:txBody>
      </p:sp>
      <p:sp>
        <p:nvSpPr>
          <p:cNvPr id="10" name="suggestion badge"/>
          <p:cNvSpPr/>
          <p:nvPr/>
        </p:nvSpPr>
        <p:spPr>
          <a:xfrm>
            <a:off x="9768535" y="1894840"/>
            <a:ext cx="1691640" cy="310896"/>
          </a:xfrm>
          <a:prstGeom prst="roundRect">
            <a:avLst>
              <a:gd name="adj" fmla="val 50000"/>
            </a:avLst>
          </a:prstGeom>
          <a:solidFill>
            <a:srgbClr val="F59E0B"/>
          </a:solidFill>
          <a:ln w="12700">
            <a:solidFill>
              <a:srgbClr val="F59E0B"/>
            </a:solidFill>
            <a:prstDash val="solid"/>
          </a:ln>
        </p:spPr>
      </p:sp>
      <p:sp>
        <p:nvSpPr>
          <p:cNvPr id="11" name="Text 9"/>
          <p:cNvSpPr txBox="1"/>
          <p:nvPr/>
        </p:nvSpPr>
        <p:spPr>
          <a:xfrm>
            <a:off x="9768535" y="1894840"/>
            <a:ext cx="1691640" cy="310896"/>
          </a:xfrm>
          <a:prstGeom prst="rect">
            <a:avLst/>
          </a:prstGeom>
          <a:noFill/>
          <a:ln/>
        </p:spPr>
        <p:txBody>
          <a:bodyPr wrap="square" lIns="0" tIns="0" rIns="0" bIns="0"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 Our suggestion</a:t>
            </a:r>
            <a:endParaRPr lang="en-US" sz="1200" dirty="0"/>
          </a:p>
        </p:txBody>
      </p:sp>
      <p:sp>
        <p:nvSpPr>
          <p:cNvPr id="12" name="Text 10"/>
          <p:cNvSpPr txBox="1"/>
          <p:nvPr/>
        </p:nvSpPr>
        <p:spPr>
          <a:xfrm>
            <a:off x="548640" y="4942840"/>
            <a:ext cx="11094415" cy="259080"/>
          </a:xfrm>
          <a:prstGeom prst="rect">
            <a:avLst/>
          </a:prstGeom>
          <a:noFill/>
          <a:ln/>
        </p:spPr>
        <p:txBody>
          <a:bodyPr wrap="square" lIns="0" tIns="0" rIns="0" bIns="0" rtlCol="0" anchor="t"/>
          <a:lstStyle/>
          <a:p>
            <a:pPr indent="0" marL="0">
              <a:buNone/>
            </a:pPr>
            <a:r>
              <a:rPr lang="en-US" sz="1700" b="1" dirty="0">
                <a:solidFill>
                  <a:srgbClr val="B45309"/>
                </a:solidFill>
                <a:latin typeface="Arial" pitchFamily="34" charset="0"/>
                <a:ea typeface="Arial" pitchFamily="34" charset="-122"/>
                <a:cs typeface="Arial" pitchFamily="34" charset="-120"/>
              </a:rPr>
              <a:t>Why C: </a:t>
            </a:r>
            <a:pPr indent="0" marL="0">
              <a:buNone/>
            </a:pPr>
            <a:r>
              <a:rPr lang="en-US" sz="1700" dirty="0">
                <a:solidFill>
                  <a:srgbClr val="0F172A"/>
                </a:solidFill>
                <a:latin typeface="Arial" pitchFamily="34" charset="0"/>
                <a:ea typeface="Arial" pitchFamily="34" charset="-122"/>
                <a:cs typeface="Arial" pitchFamily="34" charset="-120"/>
              </a:rPr>
              <a:t>people can read the results here, and the full data stays safe online for the future.</a:t>
            </a:r>
            <a:endParaRPr lang="en-US" sz="1700" dirty="0"/>
          </a:p>
        </p:txBody>
      </p:sp>
      <p:sp>
        <p:nvSpPr>
          <p:cNvPr id="13" name="first draft note"/>
          <p:cNvSpPr/>
          <p:nvPr/>
        </p:nvSpPr>
        <p:spPr>
          <a:xfrm>
            <a:off x="548640" y="5339080"/>
            <a:ext cx="11094415" cy="457200"/>
          </a:xfrm>
          <a:prstGeom prst="roundRect">
            <a:avLst>
              <a:gd name="adj" fmla="val 16000"/>
            </a:avLst>
          </a:prstGeom>
          <a:solidFill>
            <a:srgbClr val="FEF3C7"/>
          </a:solidFill>
          <a:ln w="15875">
            <a:solidFill>
              <a:srgbClr val="F59E0B"/>
            </a:solidFill>
            <a:prstDash val="dash"/>
          </a:ln>
        </p:spPr>
      </p:sp>
      <p:sp>
        <p:nvSpPr>
          <p:cNvPr id="14" name="Text 12"/>
          <p:cNvSpPr txBox="1"/>
          <p:nvPr/>
        </p:nvSpPr>
        <p:spPr>
          <a:xfrm>
            <a:off x="731520" y="5339080"/>
            <a:ext cx="10728655" cy="457200"/>
          </a:xfrm>
          <a:prstGeom prst="rect">
            <a:avLst/>
          </a:prstGeom>
          <a:noFill/>
          <a:ln/>
        </p:spPr>
        <p:txBody>
          <a:bodyPr wrap="square" lIns="0" tIns="0" rIns="0" bIns="0" rtlCol="0" anchor="ctr"/>
          <a:lstStyle/>
          <a:p>
            <a:pPr indent="0" marL="0">
              <a:buNone/>
            </a:pPr>
            <a:r>
              <a:rPr lang="en-US" sz="1400" dirty="0">
                <a:solidFill>
                  <a:srgbClr val="0F172A"/>
                </a:solidFill>
                <a:latin typeface="Arial" pitchFamily="34" charset="0"/>
                <a:ea typeface="Arial" pitchFamily="34" charset="-122"/>
                <a:cs typeface="Arial" pitchFamily="34" charset="-120"/>
              </a:rPr>
              <a:t>📝 First draft: today's choices become final only when we sign a written agreement with the HTO.</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OUR SUGGESTIONS, ALL TOGETHER</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What we suggest (first draft)</a:t>
            </a:r>
            <a:endParaRPr lang="en-US" sz="3200" dirty="0"/>
          </a:p>
        </p:txBody>
      </p:sp>
      <p:graphicFrame>
        <p:nvGraphicFramePr>
          <p:cNvPr id="23" name="suggestions table"/>
          <p:cNvGraphicFramePr>
            <a:graphicFrameLocks noGrp="1"/>
          </p:cNvGraphicFramePr>
          <p:nvPr>
            <p:extLst>
              <p:ext uri="{D42A27DB-BD31-4B8C-83A1-F6EECF244321}">
                <p14:modId xmlns:p14="http://schemas.microsoft.com/office/powerpoint/2010/main" val="1579011935"/>
              </p:ext>
            </p:extLst>
          </p:nvPr>
        </p:nvGraphicFramePr>
        <p:xfrm>
          <a:off x="548640" y="1445768"/>
          <a:ext cx="11094415" cy="914400"/>
        </p:xfrm>
        <a:graphic>
          <a:graphicData uri="http://schemas.openxmlformats.org/drawingml/2006/table">
            <a:tbl>
              <a:tblPr/>
              <a:tblGrid>
                <a:gridCol w="3291840"/>
                <a:gridCol w="7802575"/>
              </a:tblGrid>
              <a:tr h="457200">
                <a:tc>
                  <a:txBody>
                    <a:bodyPr/>
                    <a:lstStyle/>
                    <a:p>
                      <a:pPr indent="0" marL="0">
                        <a:buNone/>
                      </a:pPr>
                      <a:r>
                        <a:rPr lang="en-US" sz="1300" b="1" dirty="0">
                          <a:solidFill>
                            <a:srgbClr val="B45309"/>
                          </a:solidFill>
                          <a:latin typeface="Arial" pitchFamily="34" charset="0"/>
                          <a:ea typeface="Arial" pitchFamily="34" charset="-122"/>
                          <a:cs typeface="Arial" pitchFamily="34" charset="-120"/>
                        </a:rPr>
                        <a:t>DECISION</a:t>
                      </a:r>
                      <a:endParaRPr lang="en-US" sz="13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45309"/>
                          </a:solidFill>
                          <a:latin typeface="Arial" pitchFamily="34" charset="0"/>
                          <a:ea typeface="Arial" pitchFamily="34" charset="-122"/>
                          <a:cs typeface="Arial" pitchFamily="34" charset="-120"/>
                        </a:rPr>
                        <a:t>OUR SUGGESTION</a:t>
                      </a:r>
                      <a:endParaRPr lang="en-US" sz="13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0F172A"/>
                          </a:solidFill>
                          <a:latin typeface="Arial" pitchFamily="34" charset="0"/>
                          <a:ea typeface="Arial" pitchFamily="34" charset="-122"/>
                          <a:cs typeface="Arial" pitchFamily="34" charset="-120"/>
                        </a:rPr>
                        <a:t>1. Who decides</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0F172A"/>
                          </a:solidFill>
                          <a:latin typeface="Arial" pitchFamily="34" charset="0"/>
                          <a:ea typeface="Arial" pitchFamily="34" charset="-122"/>
                          <a:cs typeface="Arial" pitchFamily="34" charset="-120"/>
                        </a:rPr>
                        <a:t>A data group led by the HTO, with an Elder, a youth and the Hamlet</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57200">
                <a:tc>
                  <a:txBody>
                    <a:bodyPr/>
                    <a:lstStyle/>
                    <a:p>
                      <a:pPr indent="0" marL="0">
                        <a:buNone/>
                      </a:pPr>
                      <a:r>
                        <a:rPr lang="en-US" sz="1600" b="1" dirty="0">
                          <a:solidFill>
                            <a:srgbClr val="0F172A"/>
                          </a:solidFill>
                          <a:latin typeface="Arial" pitchFamily="34" charset="0"/>
                          <a:ea typeface="Arial" pitchFamily="34" charset="-122"/>
                          <a:cs typeface="Arial" pitchFamily="34" charset="-120"/>
                        </a:rPr>
                        <a:t>2. Genomes going public</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0F172A"/>
                          </a:solidFill>
                          <a:latin typeface="Arial" pitchFamily="34" charset="0"/>
                          <a:ea typeface="Arial" pitchFamily="34" charset="-122"/>
                          <a:cs typeface="Arial" pitchFamily="34" charset="-120"/>
                        </a:rPr>
                        <a:t>One at a time, after the group approves each name</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57200">
                <a:tc>
                  <a:txBody>
                    <a:bodyPr/>
                    <a:lstStyle/>
                    <a:p>
                      <a:pPr indent="0" marL="0">
                        <a:buNone/>
                      </a:pPr>
                      <a:r>
                        <a:rPr lang="en-US" sz="1600" b="1" dirty="0">
                          <a:solidFill>
                            <a:srgbClr val="0F172A"/>
                          </a:solidFill>
                          <a:latin typeface="Arial" pitchFamily="34" charset="0"/>
                          <a:ea typeface="Arial" pitchFamily="34" charset="-122"/>
                          <a:cs typeface="Arial" pitchFamily="34" charset="-120"/>
                        </a:rPr>
                        <a:t>3. Locations</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0F172A"/>
                          </a:solidFill>
                          <a:latin typeface="Arial" pitchFamily="34" charset="0"/>
                          <a:ea typeface="Arial" pitchFamily="34" charset="-122"/>
                          <a:cs typeface="Arial" pitchFamily="34" charset="-120"/>
                        </a:rPr>
                        <a:t>Place names only, like Itivia and Puirsuk</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57200">
                <a:tc>
                  <a:txBody>
                    <a:bodyPr/>
                    <a:lstStyle/>
                    <a:p>
                      <a:pPr indent="0" marL="0">
                        <a:buNone/>
                      </a:pPr>
                      <a:r>
                        <a:rPr lang="en-US" sz="1600" b="1" dirty="0">
                          <a:solidFill>
                            <a:srgbClr val="0F172A"/>
                          </a:solidFill>
                          <a:latin typeface="Arial" pitchFamily="34" charset="0"/>
                          <a:ea typeface="Arial" pitchFamily="34" charset="-122"/>
                          <a:cs typeface="Arial" pitchFamily="34" charset="-120"/>
                        </a:rPr>
                        <a:t>4. Credit</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0F172A"/>
                          </a:solidFill>
                          <a:latin typeface="Arial" pitchFamily="34" charset="0"/>
                          <a:ea typeface="Arial" pitchFamily="34" charset="-122"/>
                          <a:cs typeface="Arial" pitchFamily="34" charset="-120"/>
                        </a:rPr>
                        <a:t>The community always, plus any person who wants to be named</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57200">
                <a:tc>
                  <a:txBody>
                    <a:bodyPr/>
                    <a:lstStyle/>
                    <a:p>
                      <a:pPr indent="0" marL="0">
                        <a:buNone/>
                      </a:pPr>
                      <a:r>
                        <a:rPr lang="en-US" sz="1600" b="1" dirty="0">
                          <a:solidFill>
                            <a:srgbClr val="0F172A"/>
                          </a:solidFill>
                          <a:latin typeface="Arial" pitchFamily="34" charset="0"/>
                          <a:ea typeface="Arial" pitchFamily="34" charset="-122"/>
                          <a:cs typeface="Arial" pitchFamily="34" charset="-120"/>
                        </a:rPr>
                        <a:t>5. Samples and DNA</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0F172A"/>
                          </a:solidFill>
                          <a:latin typeface="Arial" pitchFamily="34" charset="0"/>
                          <a:ea typeface="Arial" pitchFamily="34" charset="-122"/>
                          <a:cs typeface="Arial" pitchFamily="34" charset="-120"/>
                        </a:rPr>
                        <a:t>Kept frozen at the university, owned by the community, destroyed if asked</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57200">
                <a:tc>
                  <a:txBody>
                    <a:bodyPr/>
                    <a:lstStyle/>
                    <a:p>
                      <a:pPr indent="0" marL="0">
                        <a:buNone/>
                      </a:pPr>
                      <a:r>
                        <a:rPr lang="en-US" sz="1600" b="1" dirty="0">
                          <a:solidFill>
                            <a:srgbClr val="0F172A"/>
                          </a:solidFill>
                          <a:latin typeface="Arial" pitchFamily="34" charset="0"/>
                          <a:ea typeface="Arial" pitchFamily="34" charset="-122"/>
                          <a:cs typeface="Arial" pitchFamily="34" charset="-120"/>
                        </a:rPr>
                        <a:t>6. Our copy</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600" dirty="0">
                          <a:solidFill>
                            <a:srgbClr val="0F172A"/>
                          </a:solidFill>
                          <a:latin typeface="Arial" pitchFamily="34" charset="0"/>
                          <a:ea typeface="Arial" pitchFamily="34" charset="-122"/>
                          <a:cs typeface="Arial" pitchFamily="34" charset="-120"/>
                        </a:rPr>
                        <a:t>Paper reports here, full data online</a:t>
                      </a:r>
                      <a:endParaRPr lang="en-US" sz="1600" dirty="0">
                        <a:latin typeface="Arial" charset="0"/>
                        <a:ea typeface="Arial" charset="0"/>
                        <a:cs typeface="Arial"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5" name="Text 2"/>
          <p:cNvSpPr txBox="1"/>
          <p:nvPr/>
        </p:nvSpPr>
        <p:spPr>
          <a:xfrm>
            <a:off x="548640" y="4920488"/>
            <a:ext cx="11094415" cy="670560"/>
          </a:xfrm>
          <a:prstGeom prst="rect">
            <a:avLst/>
          </a:prstGeom>
          <a:noFill/>
          <a:ln/>
        </p:spPr>
        <p:txBody>
          <a:bodyPr wrap="square" lIns="0" tIns="0" rIns="0" bIns="0" rtlCol="0" anchor="t"/>
          <a:lstStyle/>
          <a:p>
            <a:pPr indent="0" marL="0">
              <a:buNone/>
            </a:pPr>
            <a:r>
              <a:rPr lang="en-US" sz="2200" dirty="0">
                <a:solidFill>
                  <a:srgbClr val="0F172A"/>
                </a:solidFill>
                <a:latin typeface="Arial" pitchFamily="34" charset="0"/>
                <a:ea typeface="Arial" pitchFamily="34" charset="-122"/>
                <a:cs typeface="Arial" pitchFamily="34" charset="-120"/>
              </a:rPr>
              <a:t>These are a first draft. We will write them into one short agreement, in Inuktitut and English, and they become final when the HTO signs it.</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4415" cy="292608"/>
          </a:xfrm>
          <a:prstGeom prst="rect">
            <a:avLst/>
          </a:prstGeom>
          <a:noFill/>
          <a:ln/>
        </p:spPr>
        <p:txBody>
          <a:bodyPr wrap="square" lIns="0" tIns="0" rIns="0" bIns="0" rtlCol="0" anchor="t"/>
          <a:lstStyle/>
          <a:p>
            <a:pPr indent="0" marL="0">
              <a:buNone/>
            </a:pPr>
            <a:r>
              <a:rPr lang="en-US" sz="1300" b="1" spc="150" kern="0" dirty="0">
                <a:solidFill>
                  <a:srgbClr val="0369A1"/>
                </a:solidFill>
                <a:latin typeface="Arial" pitchFamily="34" charset="0"/>
                <a:ea typeface="Arial" pitchFamily="34" charset="-122"/>
                <a:cs typeface="Arial" pitchFamily="34" charset="-120"/>
              </a:rPr>
              <a:t>WHERE THIS COMES FROM</a:t>
            </a:r>
            <a:endParaRPr lang="en-US" sz="1300" dirty="0"/>
          </a:p>
        </p:txBody>
      </p:sp>
      <p:sp>
        <p:nvSpPr>
          <p:cNvPr id="3" name="Text 0"/>
          <p:cNvSpPr/>
          <p:nvPr>
            <p:ph idx="100" type="title" hasCustomPrompt="1"/>
          </p:nvPr>
        </p:nvSpPr>
        <p:spPr>
          <a:xfrm>
            <a:off x="548640" y="658368"/>
            <a:ext cx="11094415" cy="1097280"/>
          </a:xfrm>
          <a:prstGeom prst="rect">
            <a:avLst/>
          </a:prstGeom>
          <a:noFill/>
          <a:ln/>
        </p:spPr>
        <p:txBody>
          <a:bodyPr wrap="square" lIns="0" tIns="0" rIns="0" bIns="0" rtlCol="0" anchor="t"/>
          <a:lstStyle/>
          <a:p>
            <a:pPr algn="l" indent="0" marL="0">
              <a:buNone/>
            </a:pPr>
            <a:r>
              <a:rPr lang="en-US" sz="3200" b="1" dirty="0">
                <a:solidFill>
                  <a:srgbClr val="0F172A"/>
                </a:solidFill>
                <a:latin typeface="Arial" pitchFamily="34" charset="0"/>
                <a:ea typeface="Arial" pitchFamily="34" charset="-122"/>
                <a:cs typeface="Arial" pitchFamily="34" charset="-120"/>
              </a:rPr>
              <a:t>Sources</a:t>
            </a:r>
            <a:endParaRPr lang="en-US" sz="3200" dirty="0"/>
          </a:p>
        </p:txBody>
      </p:sp>
      <p:sp>
        <p:nvSpPr>
          <p:cNvPr id="4" name="Text 2"/>
          <p:cNvSpPr txBox="1"/>
          <p:nvPr/>
        </p:nvSpPr>
        <p:spPr>
          <a:xfrm>
            <a:off x="548640" y="1445768"/>
            <a:ext cx="11094415" cy="271881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172A"/>
                </a:solidFill>
                <a:latin typeface="Arial" pitchFamily="34" charset="0"/>
                <a:ea typeface="Arial" pitchFamily="34" charset="-122"/>
                <a:cs typeface="Arial" pitchFamily="34" charset="-120"/>
              </a:rPr>
              <a:t>Inuit Tapiriit Kanatami (2018). National Inuit Strategy on Research.</a:t>
            </a:r>
            <a:endParaRPr lang="en-US" sz="1400" dirty="0"/>
          </a:p>
          <a:p>
            <a:pPr marL="342900" indent="-342900">
              <a:spcAft>
                <a:spcPts val="600"/>
              </a:spcAft>
              <a:buSzPct val="100000"/>
              <a:buChar char="•"/>
            </a:pPr>
            <a:r>
              <a:rPr lang="en-US" sz="1400" dirty="0">
                <a:solidFill>
                  <a:srgbClr val="0F172A"/>
                </a:solidFill>
                <a:latin typeface="Arial" pitchFamily="34" charset="0"/>
                <a:ea typeface="Arial" pitchFamily="34" charset="-122"/>
                <a:cs typeface="Arial" pitchFamily="34" charset="-120"/>
              </a:rPr>
              <a:t>Inuit Circumpolar Council (2022). Circumpolar Inuit Protocols for Equitable and Ethical Engagement.</a:t>
            </a:r>
            <a:endParaRPr lang="en-US" sz="1400" dirty="0"/>
          </a:p>
          <a:p>
            <a:pPr marL="342900" indent="-342900">
              <a:spcAft>
                <a:spcPts val="600"/>
              </a:spcAft>
              <a:buSzPct val="100000"/>
              <a:buChar char="•"/>
            </a:pPr>
            <a:r>
              <a:rPr lang="en-US" sz="1400" dirty="0">
                <a:solidFill>
                  <a:srgbClr val="0F172A"/>
                </a:solidFill>
                <a:latin typeface="Arial" pitchFamily="34" charset="0"/>
                <a:ea typeface="Arial" pitchFamily="34" charset="-122"/>
                <a:cs typeface="Arial" pitchFamily="34" charset="-120"/>
              </a:rPr>
              <a:t>Nunavut Research Institute (2025). Obtaining a Research License under Nunavut's Scientists Act.</a:t>
            </a:r>
            <a:endParaRPr lang="en-US" sz="1400" dirty="0"/>
          </a:p>
          <a:p>
            <a:pPr marL="342900" indent="-342900">
              <a:spcAft>
                <a:spcPts val="600"/>
              </a:spcAft>
              <a:buSzPct val="100000"/>
              <a:buChar char="•"/>
            </a:pPr>
            <a:r>
              <a:rPr lang="en-US" sz="1400" dirty="0">
                <a:solidFill>
                  <a:srgbClr val="0F172A"/>
                </a:solidFill>
                <a:latin typeface="Arial" pitchFamily="34" charset="0"/>
                <a:ea typeface="Arial" pitchFamily="34" charset="-122"/>
                <a:cs typeface="Arial" pitchFamily="34" charset="-120"/>
              </a:rPr>
              <a:t>Panel on Research Ethics (2022). TCPS 2, Chapter 9: Research Involving the First Nations, Inuit and Métis Peoples of Canada.</a:t>
            </a:r>
            <a:endParaRPr lang="en-US" sz="1400" dirty="0"/>
          </a:p>
          <a:p>
            <a:pPr marL="342900" indent="-342900">
              <a:spcAft>
                <a:spcPts val="600"/>
              </a:spcAft>
              <a:buSzPct val="100000"/>
              <a:buChar char="•"/>
            </a:pPr>
            <a:r>
              <a:rPr lang="en-US" sz="1400" dirty="0">
                <a:solidFill>
                  <a:srgbClr val="0F172A"/>
                </a:solidFill>
                <a:latin typeface="Arial" pitchFamily="34" charset="0"/>
                <a:ea typeface="Arial" pitchFamily="34" charset="-122"/>
                <a:cs typeface="Arial" pitchFamily="34" charset="-120"/>
              </a:rPr>
              <a:t>SeqCode (v1.2.0). The Code of Nomenclature of Prokaryotes Described from Sequence Data.</a:t>
            </a:r>
            <a:endParaRPr lang="en-US" sz="1400" dirty="0"/>
          </a:p>
          <a:p>
            <a:pPr marL="342900" indent="-342900">
              <a:spcAft>
                <a:spcPts val="600"/>
              </a:spcAft>
              <a:buSzPct val="100000"/>
              <a:buChar char="•"/>
            </a:pPr>
            <a:r>
              <a:rPr lang="en-US" sz="1400" dirty="0">
                <a:solidFill>
                  <a:srgbClr val="0F172A"/>
                </a:solidFill>
                <a:latin typeface="Arial" pitchFamily="34" charset="0"/>
                <a:ea typeface="Arial" pitchFamily="34" charset="-122"/>
                <a:cs typeface="Arial" pitchFamily="34" charset="-120"/>
              </a:rPr>
              <a:t>Local Contexts. Biocultural Labels and Notices.</a:t>
            </a:r>
            <a:endParaRPr lang="en-US" sz="1400" dirty="0"/>
          </a:p>
          <a:p>
            <a:pPr marL="342900" indent="-342900">
              <a:spcAft>
                <a:spcPts val="600"/>
              </a:spcAft>
              <a:buSzPct val="100000"/>
              <a:buChar char="•"/>
            </a:pPr>
            <a:r>
              <a:rPr lang="en-US" sz="1400" dirty="0">
                <a:solidFill>
                  <a:srgbClr val="0F172A"/>
                </a:solidFill>
                <a:latin typeface="Arial" pitchFamily="34" charset="0"/>
                <a:ea typeface="Arial" pitchFamily="34" charset="-122"/>
                <a:cs typeface="Arial" pitchFamily="34" charset="-120"/>
              </a:rPr>
              <a:t>Convention on Biological Diversity (2024). Decision 16/2 on digital sequence information.</a:t>
            </a:r>
            <a:endParaRPr lang="en-US" sz="1400" dirty="0"/>
          </a:p>
          <a:p>
            <a:pPr marL="342900" indent="-342900">
              <a:spcAft>
                <a:spcPts val="600"/>
              </a:spcAft>
              <a:buSzPct val="100000"/>
              <a:buChar char="•"/>
            </a:pPr>
            <a:r>
              <a:rPr lang="en-US" sz="1400" dirty="0">
                <a:solidFill>
                  <a:srgbClr val="0F172A"/>
                </a:solidFill>
                <a:latin typeface="Arial" pitchFamily="34" charset="0"/>
                <a:ea typeface="Arial" pitchFamily="34" charset="-122"/>
                <a:cs typeface="Arial" pitchFamily="34" charset="-120"/>
              </a:rPr>
              <a:t>Vigneron, Vincent &amp; Lovejoy (2023). Discovery of a novel bacterial class (Tariuqbacteria). ISME Communications 3:82.</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Our Waters, Our Say: Data Sovereignty Slides</dc:title>
  <dc:subject>PptxGenJS Presentation</dc:subject>
  <dc:creator>PptxGenJS</dc:creator>
  <cp:lastModifiedBy>PptxGenJS</cp:lastModifiedBy>
  <cp:revision>1</cp:revision>
  <dcterms:created xsi:type="dcterms:W3CDTF">2026-10-29T23:01:10Z</dcterms:created>
  <dcterms:modified xsi:type="dcterms:W3CDTF">2026-10-29T23:01:10Z</dcterms:modified>
</cp:coreProperties>
</file>